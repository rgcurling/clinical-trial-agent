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4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5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6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7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theme/theme8.xml" ContentType="application/vnd.openxmlformats-officedocument.theme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theme/theme9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theme/theme10.xml" ContentType="application/vnd.openxmlformats-officedocument.theme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  <p:sldMasterId id="2147483770" r:id="rId5"/>
    <p:sldMasterId id="2147483792" r:id="rId6"/>
    <p:sldMasterId id="2147483814" r:id="rId7"/>
    <p:sldMasterId id="2147483836" r:id="rId8"/>
    <p:sldMasterId id="2147483748" r:id="rId9"/>
    <p:sldMasterId id="2147483726" r:id="rId10"/>
    <p:sldMasterId id="2147483704" r:id="rId11"/>
    <p:sldMasterId id="2147483858" r:id="rId12"/>
    <p:sldMasterId id="2147483880" r:id="rId13"/>
    <p:sldMasterId id="2147483932" r:id="rId14"/>
  </p:sldMasterIdLst>
  <p:notesMasterIdLst>
    <p:notesMasterId r:id="rId29"/>
  </p:notesMasterIdLst>
  <p:sldIdLst>
    <p:sldId id="259" r:id="rId15"/>
    <p:sldId id="260" r:id="rId16"/>
    <p:sldId id="310" r:id="rId17"/>
    <p:sldId id="337" r:id="rId18"/>
    <p:sldId id="346" r:id="rId19"/>
    <p:sldId id="339" r:id="rId20"/>
    <p:sldId id="340" r:id="rId21"/>
    <p:sldId id="341" r:id="rId22"/>
    <p:sldId id="347" r:id="rId23"/>
    <p:sldId id="343" r:id="rId24"/>
    <p:sldId id="344" r:id="rId25"/>
    <p:sldId id="345" r:id="rId26"/>
    <p:sldId id="313" r:id="rId27"/>
    <p:sldId id="34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332908-70CA-CB8F-A2FC-B01628D3D16F}" name="Cummings, Janae Danielle" initials="CJ" userId="S::jdcummin@iu.edu::d1aa624f-5867-4494-af0b-4c2d70a93744" providerId="AD"/>
  <p188:author id="{6C002275-C533-501B-086E-E5D5EE322128}" name="Sutorius, Emily Catherine" initials="SE" userId="S::ewheeloc@iu.edu::bbc69f27-a29e-4d01-9b8a-50898b3a17f6" providerId="AD"/>
  <p188:author id="{8D5618AD-B60C-8F67-9D05-49B46EAAED74}" name="Crantford, Lori" initials="CL" userId="S::loancran@iu.edu::7d890846-aa5c-46cb-82be-2f3e0d92460f" providerId="AD"/>
  <p188:author id="{4D64EBC8-CCF0-06E7-9355-4E2CF43BB62C}" name="Thielen, Scott" initials="TS" userId="S::sthiele@iu.edu::4319cb7e-ebf4-4bf5-ab39-380869331f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0000"/>
    <a:srgbClr val="318100"/>
    <a:srgbClr val="691A1B"/>
    <a:srgbClr val="690001"/>
    <a:srgbClr val="7E0002"/>
    <a:srgbClr val="5A0001"/>
    <a:srgbClr val="6D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38"/>
    <p:restoredTop sz="94640"/>
  </p:normalViewPr>
  <p:slideViewPr>
    <p:cSldViewPr snapToGrid="0">
      <p:cViewPr varScale="1">
        <p:scale>
          <a:sx n="111" d="100"/>
          <a:sy n="111" d="100"/>
        </p:scale>
        <p:origin x="8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slide" Target="slides/slide7.xml"/><Relationship Id="rId34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0D9D6-8B44-964D-B409-491630D2EF62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4F901-10F4-8149-B217-045277F7D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10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23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44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51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ED34-6F8B-611C-9B21-97E5B87D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1CAA4-9AEC-706D-3535-AE2EB520B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77CA2-FA14-AE4B-A03F-6A0FB140E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Fogel (2018); Miotto et al. (2019)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71350-9739-595F-7F1D-D611A3127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84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2E797-4F93-5F27-BC99-8E3E4621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3898D-5EF9-BCC4-283F-89AEF45F8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04EA3-271E-D4FF-7553-4C544B6A9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E6DA6-E672-8FA0-6F17-4460DBC3C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7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CED8F-4778-6D5F-7733-4FB8D8DB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5D01C-44AF-E126-5E51-24E379D2B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7EE96-90FE-301F-2348-F6B6442E4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C7936-6F17-389B-CBA1-F5798793F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11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2DABE-9EAB-5034-F2FD-883B46F8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663D9-E780-8C0B-FD29-B9A1524CF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0B0DE-53A1-FA23-8554-686A8A956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077AF-6391-954E-3CE1-2770982B5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46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70D7-41A1-B547-AC61-C81FF473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FE1DC-F889-6419-2D09-4EEE5FD8F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D6CFD-78E5-EED1-17CB-D19DBB33F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78B2D-D7DF-9FE1-3584-2C062692A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33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444F8-E8F5-83FA-884A-A902C35EC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C49EC-4756-7211-3C6D-3459F78DF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FCE84-13F1-625A-4074-BCB5A23BD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24C44-7C9C-268D-0248-A096EB1C7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0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BE472-37CD-BA63-3B9F-44D53348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E934F-AB36-C039-05E1-265D4E6C6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A978A-12A6-569F-5D1B-99434A59B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659DB-6A71-EF23-7A0E-0DE552B17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80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D47F2-5848-56E7-BD6E-13651A96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967BF-465F-A17C-B090-AAB7E71DD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FA5BF-D2B7-D0F2-D46F-2F50A17BB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E8EF7-5A57-4B59-AEE1-1BECF4997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57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C32D-D591-C1F8-78A2-9B85E4C5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54E0E-8DBE-A00F-55FD-455AB7010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9D9F3-2FF2-04BC-3F7A-DFD34F1A3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0478B-6B26-79C4-F917-4ECFABE1A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60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60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B512-09CA-FB1F-7084-45DF4211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B372C-130F-316D-E306-A8B7CFF9F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29646-B7A2-52D3-3722-ECCB5B93A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77A45-6CD9-3676-0CE6-AFB901919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F901-10F4-8149-B217-045277F7DF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2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7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7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7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8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8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8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8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8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8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8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8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8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8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8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8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8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8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9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9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9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9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9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9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9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9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9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9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9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9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9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9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9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9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9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9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0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0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0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0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0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0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0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0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0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0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0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0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0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0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0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0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0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1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1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1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1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1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1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1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1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1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1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1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1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1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1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1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1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1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1.xml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50961" y="6237080"/>
            <a:ext cx="240284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92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1760" y="6237081"/>
            <a:ext cx="235032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91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90160" y="6275738"/>
            <a:ext cx="229537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51120" y="6316594"/>
            <a:ext cx="22344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90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69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50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5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82630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5DFCAE-3B40-6C28-11D8-19685F12D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585"/>
            <a:ext cx="2754262" cy="5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A26400A-1810-2482-88CF-72241C4C3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585"/>
            <a:ext cx="2754262" cy="5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9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C01A553-2E28-522C-C644-84A2E4278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585"/>
            <a:ext cx="2754262" cy="5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55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C7C4199-9BD1-178B-04F2-CDC03D55D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585"/>
            <a:ext cx="2754262" cy="5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8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669B02-B1AF-7875-6A95-80ACD2F49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585"/>
            <a:ext cx="2754262" cy="5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4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DF7C411-178C-4232-3ED7-0421BB6D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585"/>
            <a:ext cx="2754262" cy="5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8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D36E005-8DF3-8A0F-6858-BB06BF606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585"/>
            <a:ext cx="2754262" cy="5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9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C348768-7F58-D5CA-1A0E-932A138EC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585"/>
            <a:ext cx="2754262" cy="5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04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52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902650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51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887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45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01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6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11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57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69681" y="6237080"/>
            <a:ext cx="248412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64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3200" y="6237081"/>
            <a:ext cx="225888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87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80000" y="6275738"/>
            <a:ext cx="230553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97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39360" y="6316594"/>
            <a:ext cx="234617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58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06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15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904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12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063BD07-0FD8-571A-8D2B-5F7E2C7C5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8768"/>
            <a:ext cx="4290645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2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54088E1-8AFD-1A46-1113-7AF436718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8768"/>
            <a:ext cx="4290645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74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CB30E8A-DF65-D39B-BA91-9F8CAF181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8768"/>
            <a:ext cx="4290645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16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7765041-52EE-8B43-51A5-8901DED71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8768"/>
            <a:ext cx="4290645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687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2161D4-829A-A8F9-7787-7F83FA851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8768"/>
            <a:ext cx="4290645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80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34DB49-C60C-1F2E-B628-3DA2A5B6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8768"/>
            <a:ext cx="4290645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51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D0A125B-D9F2-A5ED-9039-69CE3A7E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8768"/>
            <a:ext cx="4290645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843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9BA785-0533-94F9-23B8-45BA060FD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8768"/>
            <a:ext cx="4290645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718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0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34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3032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31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89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09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72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9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69681" y="6237080"/>
            <a:ext cx="248412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7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20480" y="6237081"/>
            <a:ext cx="243160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6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9520" y="6275738"/>
            <a:ext cx="23360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13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9840" y="6316594"/>
            <a:ext cx="231569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77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2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20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032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93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9A1391-BDD1-0C7E-50FB-11A9988AC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918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322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E9B139-008E-1B71-AF8C-D64B78204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918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200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DAE5227-EF4A-9958-27F2-312174C12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918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10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CC06E0F-33F1-F6E8-E680-67D19C14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918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022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1DE85FB-B954-0844-350E-919644FEF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918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90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A4193F-099B-F1FE-050D-4F72ADD78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918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18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F2426EF-B50E-51DB-3035-C40B39190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918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120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0AF335E-400A-A397-1A3A-8DBB51F6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918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809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58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31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243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05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32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87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01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06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1281" y="6237080"/>
            <a:ext cx="238252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18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1120" y="6237081"/>
            <a:ext cx="239096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04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7120" y="6275738"/>
            <a:ext cx="24884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26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9520" y="6316594"/>
            <a:ext cx="23360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48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80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30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4168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85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A8D382-626B-956A-0EC3-DEF23BACE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90564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216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E2B38A9-E104-E888-0A65-BA97FA676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90564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061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242F6C-C49B-574F-2B1A-9D5E81961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90564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7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1737F93-4738-F57A-46C7-A4104C404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90564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308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2E16708-FEA4-AC1F-42BE-FA2F8D7EB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90564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3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2CCB0D9-9F3C-8982-F42D-0464FAAC2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90564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0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740A8F4-41B7-7E51-9B13-DCFE9325A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90564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6709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8E57E5-8ECF-A4C7-FC58-B4F57D92D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90564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7167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59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7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930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00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48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13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83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34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54721" y="6237080"/>
            <a:ext cx="279908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98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51520" y="6237081"/>
            <a:ext cx="300056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51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7120" y="6275738"/>
            <a:ext cx="24884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84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6320" y="6316594"/>
            <a:ext cx="25392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63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40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32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3930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99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4B36D1-BD01-85AF-CC71-11E5B21BA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3205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2002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ACA4D0B-7777-6482-A71C-7E6EBE70E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3205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20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7478F4F-3F15-D40D-706D-4093F8800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3205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873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072D98-837F-DBD5-1B78-507C960F6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3205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3207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816B6A-8B37-5CCA-558C-F5D46F8B1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3205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1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0111D99-C1F3-FD6C-F780-5468A1AD5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3205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96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B4AB48-C974-78E6-D731-B17B53C0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3205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2231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AD9D7CE-6BD9-FA78-50ED-33BB5E411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32056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4704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6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51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741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22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29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72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33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34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34961" y="6237080"/>
            <a:ext cx="341884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52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95920" y="6237081"/>
            <a:ext cx="335616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62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3920" y="6275738"/>
            <a:ext cx="26916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2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54880" y="6316594"/>
            <a:ext cx="263065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82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9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60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3834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83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1DFF813-5F64-95BC-4F6C-5CF3F7842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406521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5935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C29E6C-38BC-AE22-52E2-1DCBA46B1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406521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7747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18A169-9441-E049-7D9F-E66C0C61D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406521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35A87AD-F261-D094-5125-911EACE8E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406521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4271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72DF280-8354-AE4C-1DC7-40FF0E86F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406521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00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5D0C873-8761-E17E-1339-DFE3FC493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406521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02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042CBD6-51F2-5DA9-84FA-B2EF419E3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406521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4380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3E0A133-BDCF-C71D-F9DF-A35CBC054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406521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41579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38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41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2086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97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75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26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16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20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53121" y="6237080"/>
            <a:ext cx="290068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60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0" y="6237081"/>
            <a:ext cx="257384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79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80000" y="6275738"/>
            <a:ext cx="230553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6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47920" y="6316594"/>
            <a:ext cx="24376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45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36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87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0341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51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76623C5-62BE-A3B1-BCFA-75F7402DE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685290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8779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04C864-EB9F-7925-DF63-447CD3753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685290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1614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52F116-F6F3-1461-9A3C-A959DDC1B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685290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7050854-6097-9741-2260-6149A2AD4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685290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5435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805B3B-0763-2930-D0B5-1D9601372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685290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93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F1478B-6445-C3F5-16FE-BA69BF285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685290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9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27543DB-A321-1C8B-49A7-8BAA161EA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685290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1623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4573323-1852-DDCB-D9C4-151814236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7193"/>
            <a:ext cx="3685290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2704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395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28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864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2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79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38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49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68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46161" y="6237080"/>
            <a:ext cx="270764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55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800" y="6237081"/>
            <a:ext cx="291928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432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17440" y="6275738"/>
            <a:ext cx="246809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94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3120" y="6316594"/>
            <a:ext cx="274241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0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43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2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9757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83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FF84F34-9EA4-CFCA-FA12-94C3C33E9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6841"/>
            <a:ext cx="407281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136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7F2CAED-F8F2-E373-1A73-7A0F299CB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6841"/>
            <a:ext cx="407281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45565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6540B6A-6491-0A4A-F7E3-6B66117A1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6841"/>
            <a:ext cx="407281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96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3B13EF8-2193-8860-BF80-30771A679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6841"/>
            <a:ext cx="407281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6022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9A0656-12E4-1F56-3419-08CA08DAF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6841"/>
            <a:ext cx="407281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4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0B20864-49B2-C181-BB50-F957F5F8E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6841"/>
            <a:ext cx="407281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80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E52F498-A1F1-1CAB-0A06-994958F65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6841"/>
            <a:ext cx="407281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7754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7D1AC91-6F4F-56AB-294F-9655B32BA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96841"/>
            <a:ext cx="4072819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7474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70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35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5305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23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93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38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11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20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64881" y="6237080"/>
            <a:ext cx="278892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48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44560" y="6237081"/>
            <a:ext cx="280752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62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05680" y="6275738"/>
            <a:ext cx="257985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5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27600" y="6316594"/>
            <a:ext cx="245793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08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9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80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4804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85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761AE62-2FFE-2CC3-E3D1-0E8F6CFBA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019627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1548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9049C6B-2C37-EDFB-8402-948F8E5CC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019627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66419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E97D328-45A7-2DE0-5C67-3978EEDED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019627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52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6DFD41-B885-4AD0-4045-DD9D59774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019627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19877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B9EB42F-28A4-41F3-53DA-96FE4CF5C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019627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54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767924B-3FCD-881C-7043-3E5A1FC7F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019627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9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390C6E8-BBE0-D3F1-3620-763554AC8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019627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7232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E518B19-D5C5-CEBD-8236-1E5472D9D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019627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37937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66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12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4551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63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96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60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66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69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1841" y="6237080"/>
            <a:ext cx="29819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77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5200" y="6237081"/>
            <a:ext cx="276688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54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8080" y="6275738"/>
            <a:ext cx="242745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50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16594"/>
            <a:ext cx="244777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07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3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04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2419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46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441305-E9C6-D846-E7C2-B538C115A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0321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51916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D86C103-B8C5-D9E1-158F-56438ED1F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0321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75872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9DECC6A-21DD-9902-35C2-02A5F03CF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0321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01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ABA9C06-FE5C-6A41-1DC1-4C36D4B85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0321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54134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86236A-F701-1324-9463-D729DB8B5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0321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86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F20617C-462E-B50F-F3F0-0DAFD95ED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0321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41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FE8F1AA-AD9F-5521-0449-A19073F0C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0321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0497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CE90A0-D513-1A11-6FC4-2E426B7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163" y="104798"/>
            <a:ext cx="4103212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43632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30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24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8177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61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28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03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50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47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1" y="2079322"/>
            <a:ext cx="9699674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B62822-4AC1-B82E-65A4-D41E4543E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1841" y="6237080"/>
            <a:ext cx="29819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3F403E1-C407-1E4F-B70B-1D01DD36248A}" type="datetime4">
              <a:rPr lang="en-US" smtClean="0"/>
              <a:pPr/>
              <a:t>March 12, 2026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3CA28-DB7A-BDB7-BE29-6D30072A3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35D4E1-D3DC-D5F4-1B0E-A3DEE53C9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30446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2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00FEE7-F756-8EB5-46D5-AE73009A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079322"/>
            <a:ext cx="9746567" cy="2022475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0" y="4333875"/>
            <a:ext cx="9746567" cy="773014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1714197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5200" y="6237081"/>
            <a:ext cx="2766884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99CA6624-00E6-C34F-9AA3-84B787E7E4E9}" type="datetime4">
              <a:rPr lang="en-US" smtClean="0"/>
              <a:t>March 12, 2026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478F-7A9A-A59C-9149-69107D6A3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00177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8027631-216C-A851-32E8-6FB4304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33809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34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Title Slide -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139087-2BD5-723B-D582-DC40C82BC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722141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8080" y="6275738"/>
            <a:ext cx="242745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74AAA2F5-2693-1C4E-8AA7-D357889A8E8C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8EA422-E962-6115-D06D-F1485489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21737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EB289B6-34FF-3D8D-95D0-B4E82CBA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1897" y="6347640"/>
            <a:ext cx="2021059" cy="2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32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-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8E143-D455-4A3C-F787-9F4BB0011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722141" y="0"/>
            <a:ext cx="790308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643027"/>
          </a:xfrm>
        </p:spPr>
        <p:txBody>
          <a:bodyPr anchor="t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8880-01B2-E743-3AB0-6A536C89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41343"/>
            <a:ext cx="6663396" cy="1010196"/>
          </a:xfrm>
        </p:spPr>
        <p:txBody>
          <a:bodyPr>
            <a:normAutofit/>
          </a:bodyPr>
          <a:lstStyle>
            <a:lvl1pPr marL="0" indent="0" algn="l">
              <a:buNone/>
              <a:defRPr sz="28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030785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8E38D-FCF7-2970-9FDC-00149B50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16594"/>
            <a:ext cx="2447777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fld id="{F736CD1D-257F-D848-ADDF-0C3CED288F3A}" type="datetime4">
              <a:rPr lang="en-US" smtClean="0"/>
              <a:pPr/>
              <a:t>March 12, 2026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B795E0-6F73-127D-FAF7-CECAB57B5A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FCD676-C09F-EB2F-1A31-AF92048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6192901"/>
            <a:ext cx="501940" cy="1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0B2C4C6-02CF-C2AC-1111-367A785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1958" y="6326533"/>
            <a:ext cx="2021059" cy="2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84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70F2B95-2672-732F-9677-0228E4BE8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244" y="-211061"/>
            <a:ext cx="6151202" cy="72949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1">
                    <a:tint val="82000"/>
                  </a:schemeClr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7E7AA2-9887-21A5-F37A-B059195ED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57168" y="6119999"/>
            <a:ext cx="2705943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3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hite 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C530316-DE7C-9B49-1F7A-53E0F8D95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305" y="-220129"/>
            <a:ext cx="6182520" cy="733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5A5D2-F4B9-39D5-1EA2-3167DEBD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F3573F-770C-3938-D02C-1A11353CF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7167" y="6119999"/>
            <a:ext cx="2705946" cy="3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44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ECADF9-549E-60D6-633B-60DCF2D0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99265-05ED-11E6-310D-55231653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330" y="723653"/>
            <a:ext cx="10870945" cy="54104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32B95-4288-53D9-1A37-21CD4D8C7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212" y="2502920"/>
            <a:ext cx="734189" cy="186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C2226-2A7E-CACB-26D6-CDEEC57A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11" y="1861881"/>
            <a:ext cx="9199766" cy="1862129"/>
          </a:xfrm>
        </p:spPr>
        <p:txBody>
          <a:bodyPr>
            <a:noAutofit/>
          </a:bodyPr>
          <a:lstStyle>
            <a:lvl1pPr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E646F8-D947-5A63-D1B4-87B4D365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910" y="3777230"/>
            <a:ext cx="9199767" cy="1500187"/>
          </a:xfrm>
        </p:spPr>
        <p:txBody>
          <a:bodyPr/>
          <a:lstStyle>
            <a:lvl1pPr marL="0" indent="0">
              <a:buNone/>
              <a:defRPr sz="2400" b="0" i="1" cap="all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rimson trident">
            <a:extLst>
              <a:ext uri="{FF2B5EF4-FFF2-40B4-BE49-F238E27FC236}">
                <a16:creationId xmlns:a16="http://schemas.microsoft.com/office/drawing/2014/main" id="{5F6FD88C-0C7C-45AB-370B-847325C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4792" y="2681886"/>
            <a:ext cx="1229658" cy="1505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CBB350-6B0A-432D-766C-43D09168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724" y="5641474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26903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– 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69" y="721052"/>
            <a:ext cx="7130626" cy="787644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defRPr sz="3200" b="1" i="0" cap="all" baseline="0">
                <a:solidFill>
                  <a:schemeClr val="bg1"/>
                </a:solidFill>
                <a:latin typeface="Azeret Mono SemiBold" pitchFamily="2" charset="77"/>
                <a:cs typeface="Azeret Mono 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1BDEEB-92CC-BC8B-D882-1FB33D8BF4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45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4D532B-9C88-992E-53F6-71A52285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2F5E78-1BF6-0504-F7C9-C1C26114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18B2A06-52B5-B28C-6CB8-C25EE04C35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BD8ED3-823A-DA64-E53F-DA98CAEEE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47A18DFF-9C2D-4CFF-56BD-36FAADD4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C5BE92-4A1B-4B59-F224-0389AB1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441305-E9C6-D846-E7C2-B538C115A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70017" y="104798"/>
            <a:ext cx="142345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774768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72CD5D-2294-41F8-06C6-2D272F4AF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002E9-78AE-3853-CA43-15539CB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1AAB19A-F306-6259-B101-CBC798DFD98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93660CF-19A9-059D-DBD4-5C2D334EAA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4774-BDE9-F381-DFCC-1E182CA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1504"/>
            <a:ext cx="10515600" cy="369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FE9EE97-9BCA-12D3-9226-DA0BFAE9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C3F3-9B67-1724-F9D7-D338218C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3237417-511E-AA36-500D-656B5F281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70017" y="104798"/>
            <a:ext cx="142345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983916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FC3463-EE91-2139-1E40-3597B27C0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97737E-AB15-FE96-47AF-0909F32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C88E3E-CB18-36F0-8B0A-5925CAD0B2C2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C70EBF4-B0A0-A0C8-B913-21CAA6347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4FB5-693C-1D4E-DA69-72E8D8164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10E3E-DBB8-EC2E-AB44-A2CF2E321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76251"/>
            <a:ext cx="5181600" cy="3856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E5BAEA0F-342A-56F4-B7E0-961A03C2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8B4E6-5463-4B96-AC9C-37BE95F4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133F2F7-870F-A216-7C83-079E7AC33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70017" y="104798"/>
            <a:ext cx="142345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76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D50C9-F1ED-4D6E-2EF2-D8F9493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DF064D-7F23-F5E7-C88A-6DAC4B5B78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6781"/>
            <a:ext cx="5157787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54217"/>
            <a:ext cx="5157787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BB9F1-F705-ABAB-53A8-8F8ECF5CC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6781"/>
            <a:ext cx="5183188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5D3A1-4D0F-7677-32E2-49782B9E2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54217"/>
            <a:ext cx="5183188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78D7BD7-D00A-0F1F-A163-E2675AA95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70017" y="104798"/>
            <a:ext cx="142345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08300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E04AE2-B9D4-51CF-53DB-CC7E1336B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2DA880-A5E7-4092-1AC6-DCE1B712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4BEBC62-D954-D167-7ACF-01C7062D79B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385F56A-7975-11E1-C5AD-AA38A81B86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14CCB-2F0A-B780-93C4-D2FBFC10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23682A0-7664-408C-27BB-D13BD1C6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9A17CB-AFE2-48A8-37FE-8F6E8395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4A1F5D1-5F3B-B85B-99D9-B8D17A17E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70017" y="104798"/>
            <a:ext cx="142345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set 2 Column –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F3D7DA-0443-93B4-D84F-78513F31E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552ABE-978B-3659-A910-F37889F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421377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7E86BA-C158-0E88-2879-DA6C493C065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200" y="2177181"/>
            <a:ext cx="4213770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8CEC368-7E7D-42B7-1D85-E57CCA3755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1094198"/>
            <a:ext cx="4213770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9B419-9895-659D-D8C8-C1C4D638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507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94C60A3-AD79-E0B6-4F9E-C6365015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123A9-A1A2-756C-3F15-C309F51B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E830B3-2703-3521-B53E-6031C985C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70017" y="104798"/>
            <a:ext cx="142345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81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180A09-3D59-9BDA-5CF3-336A3516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4E2234-7E79-984F-F03E-3F8806A5E50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838199" y="2177181"/>
            <a:ext cx="10515599" cy="477611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 cap="none" baseline="0">
                <a:solidFill>
                  <a:schemeClr val="tx1"/>
                </a:solidFill>
                <a:latin typeface="BentonSans Regular" panose="02000503000000020004" pitchFamily="2" charset="77"/>
                <a:cs typeface="Azeret Mono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471295B-941F-A9D5-A685-D2F175B30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754217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7BB9B0D-9EBB-62F7-E0BC-F530F79D3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70017" y="104798"/>
            <a:ext cx="142345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8562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4A9703-8381-4A59-2AC7-E72FDC6E0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338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E39AD-4A11-4889-348F-879F4205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108"/>
            <a:ext cx="10515600" cy="733885"/>
          </a:xfrm>
        </p:spPr>
        <p:txBody>
          <a:bodyPr>
            <a:normAutofit/>
          </a:bodyPr>
          <a:lstStyle>
            <a:lvl1pPr>
              <a:defRPr sz="4300" b="0" i="0">
                <a:latin typeface="BentonSans Book" panose="02000503000000020004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071426F-3866-F616-793D-87F7DEF42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094198"/>
            <a:ext cx="5038725" cy="2667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  <a:lvl2pPr marL="457200" indent="0">
              <a:buNone/>
              <a:defRPr sz="1200">
                <a:latin typeface="Azeret Mono" pitchFamily="2" charset="77"/>
                <a:cs typeface="Azeret Mono" pitchFamily="2" charset="77"/>
              </a:defRPr>
            </a:lvl2pPr>
            <a:lvl3pPr marL="914400" indent="0">
              <a:buNone/>
              <a:defRPr sz="1200">
                <a:latin typeface="Azeret Mono" pitchFamily="2" charset="77"/>
                <a:cs typeface="Azeret Mono" pitchFamily="2" charset="77"/>
              </a:defRPr>
            </a:lvl3pPr>
            <a:lvl4pPr marL="1371600" indent="0">
              <a:buNone/>
              <a:defRPr sz="1200">
                <a:latin typeface="Azeret Mono" pitchFamily="2" charset="77"/>
                <a:cs typeface="Azeret Mono" pitchFamily="2" charset="77"/>
              </a:defRPr>
            </a:lvl4pPr>
            <a:lvl5pPr marL="1828800" indent="0">
              <a:buNone/>
              <a:defRPr sz="1200">
                <a:latin typeface="Azeret Mono" pitchFamily="2" charset="77"/>
                <a:cs typeface="Azeret Mono" pitchFamily="2" charset="77"/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A6FDB-BB74-7421-6DBC-335D588A6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3F227-C676-5399-124B-0B5B7D36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BDBE4C3-AD9C-CE04-BD47-03B1A1B063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1979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7A2ACB-A436-0AEA-2AB5-35B9FD8C7E2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481979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8D82B0-AAC9-FE15-437A-36F8FE8B000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19030" y="2189077"/>
            <a:ext cx="3238684" cy="541743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latin typeface="BentonSans Regular" panose="02000503000000020004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B1ED128-1EF3-CBB2-7EAF-5C7CD71C3C92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19030" y="2836513"/>
            <a:ext cx="3238684" cy="3435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9D5B9CCC-9B93-99CD-213D-6A9E00E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214" y="184379"/>
            <a:ext cx="5632360" cy="365125"/>
          </a:xfrm>
        </p:spPr>
        <p:txBody>
          <a:bodyPr/>
          <a:lstStyle>
            <a:lvl1pPr algn="r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879599-5FD1-31F4-AD63-75401282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4925F2B-66E5-4C6A-58D4-FA20E0D82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70017" y="104798"/>
            <a:ext cx="1423458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02257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none" baseline="0">
                <a:solidFill>
                  <a:schemeClr val="tx2"/>
                </a:solidFill>
                <a:latin typeface="Georgia Pro Cond SemiBold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1EE9C-6F9C-028F-1123-9F2CF4F6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102" y="802326"/>
            <a:ext cx="1359672" cy="14194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42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rimson 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800" y="1709739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tx2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800" y="2635059"/>
            <a:ext cx="9512927" cy="1500187"/>
          </a:xfrm>
        </p:spPr>
        <p:txBody>
          <a:bodyPr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2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6B56B-297B-2D74-365E-0655F8C2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04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dent Frame Call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79C0CF-D6EB-4C2A-5E28-1035827F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ED79C-F035-70BC-F0BD-5FAD56F4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1675" y="1638300"/>
            <a:ext cx="10788650" cy="38481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560728-CED7-1AAD-6E10-4D5AF44C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707" y="2502920"/>
            <a:ext cx="1229658" cy="1862172"/>
            <a:chOff x="95707" y="2502920"/>
            <a:chExt cx="1229658" cy="1862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6442FE-E6FA-E295-B2E3-7D66C119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127" y="2502920"/>
              <a:ext cx="734189" cy="1862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CBA63E-752E-1BF0-BCE7-6EB21A5E2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5707" y="2681886"/>
              <a:ext cx="1229658" cy="150570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10271B-9D98-3284-D5FD-47A41BAD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637" y="1430556"/>
            <a:ext cx="1775697" cy="415487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400" b="1" i="0" cap="all" baseline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3E283-B718-8041-8D55-5D3CF12F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6638" y="2062163"/>
            <a:ext cx="8427706" cy="1500187"/>
          </a:xfrm>
        </p:spPr>
        <p:txBody>
          <a:bodyPr anchor="b">
            <a:normAutofit/>
          </a:bodyPr>
          <a:lstStyle>
            <a:lvl1pPr marL="0" indent="0">
              <a:buNone/>
              <a:defRPr sz="4300" b="0" i="0" cap="none" baseline="0">
                <a:solidFill>
                  <a:schemeClr val="tx1"/>
                </a:solidFill>
                <a:latin typeface="BentonSans Book" panose="02000503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7A383F-0936-9263-77E9-9A5249F88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7213" y="3684588"/>
            <a:ext cx="8447087" cy="125888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accent5">
                    <a:lumMod val="50000"/>
                  </a:schemeClr>
                </a:solidFill>
                <a:latin typeface="BentonSans Regular" panose="02000503000000020004" pitchFamily="2" charset="77"/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501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– Crim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20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BD80-618F-D517-33FF-7181972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6606" y="6267168"/>
            <a:ext cx="533968" cy="365125"/>
          </a:xfrm>
        </p:spPr>
        <p:txBody>
          <a:bodyPr/>
          <a:lstStyle>
            <a:lvl1pPr>
              <a:defRPr b="1" i="0">
                <a:latin typeface="BentonSans Regular" panose="02000503000000020004" pitchFamily="2" charset="77"/>
              </a:defRPr>
            </a:lvl1pPr>
          </a:lstStyle>
          <a:p>
            <a:fld id="{F970BF85-9FC8-714D-B749-5DD52FAEA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60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mson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6D8955-E9DB-8745-EC30-4CDF955B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803" b="-312"/>
          <a:stretch>
            <a:fillRect/>
          </a:stretch>
        </p:blipFill>
        <p:spPr>
          <a:xfrm>
            <a:off x="10562606" y="0"/>
            <a:ext cx="791194" cy="135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2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C7D7841-CD7A-DEC8-A9AC-B3AFBC356B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49068" y="2670160"/>
            <a:ext cx="3226404" cy="1437712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 b="0" i="0" cap="none" baseline="0">
                <a:solidFill>
                  <a:schemeClr val="tx2"/>
                </a:solidFill>
                <a:latin typeface="BentonSans Regular" panose="02000503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Name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Title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Department</a:t>
            </a:r>
          </a:p>
          <a:p>
            <a:pPr>
              <a:lnSpc>
                <a:spcPts val="1540"/>
              </a:lnSpc>
              <a:spcBef>
                <a:spcPts val="1200"/>
              </a:spcBef>
            </a:pPr>
            <a:r>
              <a:rPr lang="en-US"/>
              <a:t>Presenter Phone</a:t>
            </a:r>
          </a:p>
          <a:p>
            <a:pPr>
              <a:lnSpc>
                <a:spcPts val="1540"/>
              </a:lnSpc>
              <a:spcBef>
                <a:spcPts val="0"/>
              </a:spcBef>
            </a:pPr>
            <a:r>
              <a:rPr lang="en-US"/>
              <a:t>Presenter Email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3D952-0415-D0D0-7A36-B8567A9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420"/>
          <a:stretch>
            <a:fillRect/>
          </a:stretch>
        </p:blipFill>
        <p:spPr>
          <a:xfrm>
            <a:off x="10562607" y="0"/>
            <a:ext cx="790308" cy="13542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0D745-CBA1-68F3-6581-BC646898B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8F0254-472D-AB5A-2E5E-5FE6DC54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2202" y="5637520"/>
            <a:ext cx="3094485" cy="41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93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ng On Tomorrow 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8974-59A4-6BE4-C1C8-35D4B042FD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2141" y="3035285"/>
            <a:ext cx="7119532" cy="1072587"/>
          </a:xfrm>
        </p:spPr>
        <p:txBody>
          <a:bodyPr anchor="b"/>
          <a:lstStyle>
            <a:lvl1pPr algn="l">
              <a:defRPr sz="6000" b="1" i="1" cap="all" baseline="0">
                <a:solidFill>
                  <a:schemeClr val="tx2"/>
                </a:solidFill>
                <a:latin typeface="BentonSans Black" panose="02000503000000020004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0CCDE-8424-730A-362E-32E78221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141" y="2670160"/>
            <a:ext cx="5632360" cy="365125"/>
          </a:xfrm>
        </p:spPr>
        <p:txBody>
          <a:bodyPr/>
          <a:lstStyle>
            <a:lvl1pPr algn="l">
              <a:defRPr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en-US"/>
              <a:t>Short presentation header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76015C-00BF-AEFC-51E6-106CA53B7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636" y="5474071"/>
            <a:ext cx="768531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D8BC0B0-63B0-FA2D-47A5-1F25D592F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12202" y="5637520"/>
            <a:ext cx="3094485" cy="4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45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18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99.xml"/><Relationship Id="rId21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slideLayout" Target="../slideLayouts/slideLayout113.xml"/><Relationship Id="rId25" Type="http://schemas.openxmlformats.org/officeDocument/2006/relationships/theme" Target="../theme/theme5.xml"/><Relationship Id="rId2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112.xml"/><Relationship Id="rId2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2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23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06.xml"/><Relationship Id="rId19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Relationship Id="rId22" Type="http://schemas.openxmlformats.org/officeDocument/2006/relationships/slideLayout" Target="../slideLayouts/slideLayout11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33.xml"/><Relationship Id="rId1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17" Type="http://schemas.openxmlformats.org/officeDocument/2006/relationships/slideLayout" Target="../slideLayouts/slideLayout137.xml"/><Relationship Id="rId25" Type="http://schemas.openxmlformats.org/officeDocument/2006/relationships/theme" Target="../theme/theme6.xml"/><Relationship Id="rId2" Type="http://schemas.openxmlformats.org/officeDocument/2006/relationships/slideLayout" Target="../slideLayouts/slideLayout122.xml"/><Relationship Id="rId16" Type="http://schemas.openxmlformats.org/officeDocument/2006/relationships/slideLayout" Target="../slideLayouts/slideLayout136.xml"/><Relationship Id="rId20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24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25.xml"/><Relationship Id="rId15" Type="http://schemas.openxmlformats.org/officeDocument/2006/relationships/slideLayout" Target="../slideLayouts/slideLayout135.xml"/><Relationship Id="rId23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30.xml"/><Relationship Id="rId19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Relationship Id="rId14" Type="http://schemas.openxmlformats.org/officeDocument/2006/relationships/slideLayout" Target="../slideLayouts/slideLayout134.xml"/><Relationship Id="rId22" Type="http://schemas.openxmlformats.org/officeDocument/2006/relationships/slideLayout" Target="../slideLayouts/slideLayout14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47.xml"/><Relationship Id="rId21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5" Type="http://schemas.openxmlformats.org/officeDocument/2006/relationships/theme" Target="../theme/theme7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2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24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23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54.xml"/><Relationship Id="rId19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Relationship Id="rId22" Type="http://schemas.openxmlformats.org/officeDocument/2006/relationships/slideLayout" Target="../slideLayouts/slideLayout16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13" Type="http://schemas.openxmlformats.org/officeDocument/2006/relationships/slideLayout" Target="../slideLayouts/slideLayout181.xml"/><Relationship Id="rId18" Type="http://schemas.openxmlformats.org/officeDocument/2006/relationships/slideLayout" Target="../slideLayouts/slideLayout186.xml"/><Relationship Id="rId3" Type="http://schemas.openxmlformats.org/officeDocument/2006/relationships/slideLayout" Target="../slideLayouts/slideLayout171.xml"/><Relationship Id="rId21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75.xml"/><Relationship Id="rId12" Type="http://schemas.openxmlformats.org/officeDocument/2006/relationships/slideLayout" Target="../slideLayouts/slideLayout180.xml"/><Relationship Id="rId17" Type="http://schemas.openxmlformats.org/officeDocument/2006/relationships/slideLayout" Target="../slideLayouts/slideLayout185.xml"/><Relationship Id="rId25" Type="http://schemas.openxmlformats.org/officeDocument/2006/relationships/theme" Target="../theme/theme8.xml"/><Relationship Id="rId2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84.xml"/><Relationship Id="rId2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24" Type="http://schemas.openxmlformats.org/officeDocument/2006/relationships/slideLayout" Target="../slideLayouts/slideLayout192.xml"/><Relationship Id="rId5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83.xml"/><Relationship Id="rId23" Type="http://schemas.openxmlformats.org/officeDocument/2006/relationships/slideLayout" Target="../slideLayouts/slideLayout191.xml"/><Relationship Id="rId10" Type="http://schemas.openxmlformats.org/officeDocument/2006/relationships/slideLayout" Target="../slideLayouts/slideLayout178.xml"/><Relationship Id="rId19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Relationship Id="rId14" Type="http://schemas.openxmlformats.org/officeDocument/2006/relationships/slideLayout" Target="../slideLayouts/slideLayout182.xml"/><Relationship Id="rId22" Type="http://schemas.openxmlformats.org/officeDocument/2006/relationships/slideLayout" Target="../slideLayouts/slideLayout19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0.xml"/><Relationship Id="rId13" Type="http://schemas.openxmlformats.org/officeDocument/2006/relationships/slideLayout" Target="../slideLayouts/slideLayout205.xml"/><Relationship Id="rId18" Type="http://schemas.openxmlformats.org/officeDocument/2006/relationships/slideLayout" Target="../slideLayouts/slideLayout210.xml"/><Relationship Id="rId3" Type="http://schemas.openxmlformats.org/officeDocument/2006/relationships/slideLayout" Target="../slideLayouts/slideLayout195.xml"/><Relationship Id="rId21" Type="http://schemas.openxmlformats.org/officeDocument/2006/relationships/slideLayout" Target="../slideLayouts/slideLayout213.xml"/><Relationship Id="rId7" Type="http://schemas.openxmlformats.org/officeDocument/2006/relationships/slideLayout" Target="../slideLayouts/slideLayout199.xml"/><Relationship Id="rId12" Type="http://schemas.openxmlformats.org/officeDocument/2006/relationships/slideLayout" Target="../slideLayouts/slideLayout204.xml"/><Relationship Id="rId17" Type="http://schemas.openxmlformats.org/officeDocument/2006/relationships/slideLayout" Target="../slideLayouts/slideLayout209.xml"/><Relationship Id="rId25" Type="http://schemas.openxmlformats.org/officeDocument/2006/relationships/theme" Target="../theme/theme9.xml"/><Relationship Id="rId2" Type="http://schemas.openxmlformats.org/officeDocument/2006/relationships/slideLayout" Target="../slideLayouts/slideLayout194.xml"/><Relationship Id="rId16" Type="http://schemas.openxmlformats.org/officeDocument/2006/relationships/slideLayout" Target="../slideLayouts/slideLayout208.xml"/><Relationship Id="rId20" Type="http://schemas.openxmlformats.org/officeDocument/2006/relationships/slideLayout" Target="../slideLayouts/slideLayout212.xml"/><Relationship Id="rId1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8.xml"/><Relationship Id="rId11" Type="http://schemas.openxmlformats.org/officeDocument/2006/relationships/slideLayout" Target="../slideLayouts/slideLayout203.xml"/><Relationship Id="rId24" Type="http://schemas.openxmlformats.org/officeDocument/2006/relationships/slideLayout" Target="../slideLayouts/slideLayout216.xml"/><Relationship Id="rId5" Type="http://schemas.openxmlformats.org/officeDocument/2006/relationships/slideLayout" Target="../slideLayouts/slideLayout197.xml"/><Relationship Id="rId15" Type="http://schemas.openxmlformats.org/officeDocument/2006/relationships/slideLayout" Target="../slideLayouts/slideLayout207.xml"/><Relationship Id="rId23" Type="http://schemas.openxmlformats.org/officeDocument/2006/relationships/slideLayout" Target="../slideLayouts/slideLayout215.xml"/><Relationship Id="rId10" Type="http://schemas.openxmlformats.org/officeDocument/2006/relationships/slideLayout" Target="../slideLayouts/slideLayout202.xml"/><Relationship Id="rId19" Type="http://schemas.openxmlformats.org/officeDocument/2006/relationships/slideLayout" Target="../slideLayouts/slideLayout211.xml"/><Relationship Id="rId4" Type="http://schemas.openxmlformats.org/officeDocument/2006/relationships/slideLayout" Target="../slideLayouts/slideLayout196.xml"/><Relationship Id="rId9" Type="http://schemas.openxmlformats.org/officeDocument/2006/relationships/slideLayout" Target="../slideLayouts/slideLayout201.xml"/><Relationship Id="rId14" Type="http://schemas.openxmlformats.org/officeDocument/2006/relationships/slideLayout" Target="../slideLayouts/slideLayout206.xml"/><Relationship Id="rId22" Type="http://schemas.openxmlformats.org/officeDocument/2006/relationships/slideLayout" Target="../slideLayouts/slideLayout21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4.xml"/><Relationship Id="rId13" Type="http://schemas.openxmlformats.org/officeDocument/2006/relationships/slideLayout" Target="../slideLayouts/slideLayout229.xml"/><Relationship Id="rId18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19.xml"/><Relationship Id="rId21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23.xml"/><Relationship Id="rId12" Type="http://schemas.openxmlformats.org/officeDocument/2006/relationships/slideLayout" Target="../slideLayouts/slideLayout228.xml"/><Relationship Id="rId17" Type="http://schemas.openxmlformats.org/officeDocument/2006/relationships/slideLayout" Target="../slideLayouts/slideLayout233.xml"/><Relationship Id="rId25" Type="http://schemas.openxmlformats.org/officeDocument/2006/relationships/theme" Target="../theme/theme10.xml"/><Relationship Id="rId2" Type="http://schemas.openxmlformats.org/officeDocument/2006/relationships/slideLayout" Target="../slideLayouts/slideLayout218.xml"/><Relationship Id="rId16" Type="http://schemas.openxmlformats.org/officeDocument/2006/relationships/slideLayout" Target="../slideLayouts/slideLayout232.xml"/><Relationship Id="rId20" Type="http://schemas.openxmlformats.org/officeDocument/2006/relationships/slideLayout" Target="../slideLayouts/slideLayout236.xml"/><Relationship Id="rId1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22.xml"/><Relationship Id="rId11" Type="http://schemas.openxmlformats.org/officeDocument/2006/relationships/slideLayout" Target="../slideLayouts/slideLayout227.xml"/><Relationship Id="rId24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221.xml"/><Relationship Id="rId15" Type="http://schemas.openxmlformats.org/officeDocument/2006/relationships/slideLayout" Target="../slideLayouts/slideLayout231.xml"/><Relationship Id="rId23" Type="http://schemas.openxmlformats.org/officeDocument/2006/relationships/slideLayout" Target="../slideLayouts/slideLayout239.xml"/><Relationship Id="rId10" Type="http://schemas.openxmlformats.org/officeDocument/2006/relationships/slideLayout" Target="../slideLayouts/slideLayout226.xml"/><Relationship Id="rId19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20.xml"/><Relationship Id="rId9" Type="http://schemas.openxmlformats.org/officeDocument/2006/relationships/slideLayout" Target="../slideLayouts/slideLayout225.xml"/><Relationship Id="rId14" Type="http://schemas.openxmlformats.org/officeDocument/2006/relationships/slideLayout" Target="../slideLayouts/slideLayout230.xml"/><Relationship Id="rId22" Type="http://schemas.openxmlformats.org/officeDocument/2006/relationships/slideLayout" Target="../slideLayouts/slideLayout23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8.xml"/><Relationship Id="rId13" Type="http://schemas.openxmlformats.org/officeDocument/2006/relationships/slideLayout" Target="../slideLayouts/slideLayout253.xml"/><Relationship Id="rId18" Type="http://schemas.openxmlformats.org/officeDocument/2006/relationships/slideLayout" Target="../slideLayouts/slideLayout258.xml"/><Relationship Id="rId3" Type="http://schemas.openxmlformats.org/officeDocument/2006/relationships/slideLayout" Target="../slideLayouts/slideLayout243.xml"/><Relationship Id="rId21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47.xml"/><Relationship Id="rId12" Type="http://schemas.openxmlformats.org/officeDocument/2006/relationships/slideLayout" Target="../slideLayouts/slideLayout252.xml"/><Relationship Id="rId17" Type="http://schemas.openxmlformats.org/officeDocument/2006/relationships/slideLayout" Target="../slideLayouts/slideLayout257.xml"/><Relationship Id="rId25" Type="http://schemas.openxmlformats.org/officeDocument/2006/relationships/theme" Target="../theme/theme11.xml"/><Relationship Id="rId2" Type="http://schemas.openxmlformats.org/officeDocument/2006/relationships/slideLayout" Target="../slideLayouts/slideLayout242.xml"/><Relationship Id="rId16" Type="http://schemas.openxmlformats.org/officeDocument/2006/relationships/slideLayout" Target="../slideLayouts/slideLayout256.xml"/><Relationship Id="rId20" Type="http://schemas.openxmlformats.org/officeDocument/2006/relationships/slideLayout" Target="../slideLayouts/slideLayout260.xml"/><Relationship Id="rId1" Type="http://schemas.openxmlformats.org/officeDocument/2006/relationships/slideLayout" Target="../slideLayouts/slideLayout241.xml"/><Relationship Id="rId6" Type="http://schemas.openxmlformats.org/officeDocument/2006/relationships/slideLayout" Target="../slideLayouts/slideLayout246.xml"/><Relationship Id="rId11" Type="http://schemas.openxmlformats.org/officeDocument/2006/relationships/slideLayout" Target="../slideLayouts/slideLayout251.xml"/><Relationship Id="rId24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45.xml"/><Relationship Id="rId15" Type="http://schemas.openxmlformats.org/officeDocument/2006/relationships/slideLayout" Target="../slideLayouts/slideLayout255.xml"/><Relationship Id="rId23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50.xml"/><Relationship Id="rId19" Type="http://schemas.openxmlformats.org/officeDocument/2006/relationships/slideLayout" Target="../slideLayouts/slideLayout259.xml"/><Relationship Id="rId4" Type="http://schemas.openxmlformats.org/officeDocument/2006/relationships/slideLayout" Target="../slideLayouts/slideLayout244.xml"/><Relationship Id="rId9" Type="http://schemas.openxmlformats.org/officeDocument/2006/relationships/slideLayout" Target="../slideLayouts/slideLayout249.xml"/><Relationship Id="rId14" Type="http://schemas.openxmlformats.org/officeDocument/2006/relationships/slideLayout" Target="../slideLayouts/slideLayout254.xml"/><Relationship Id="rId22" Type="http://schemas.openxmlformats.org/officeDocument/2006/relationships/slideLayout" Target="../slideLayouts/slideLayout2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8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90" r:id="rId2"/>
    <p:sldLayoutId id="2147483694" r:id="rId3"/>
    <p:sldLayoutId id="2147483693" r:id="rId4"/>
    <p:sldLayoutId id="2147483680" r:id="rId5"/>
    <p:sldLayoutId id="2147483695" r:id="rId6"/>
    <p:sldLayoutId id="2147483703" r:id="rId7"/>
    <p:sldLayoutId id="2147483696" r:id="rId8"/>
    <p:sldLayoutId id="2147483683" r:id="rId9"/>
    <p:sldLayoutId id="2147483679" r:id="rId10"/>
    <p:sldLayoutId id="2147483681" r:id="rId11"/>
    <p:sldLayoutId id="2147483682" r:id="rId12"/>
    <p:sldLayoutId id="2147483685" r:id="rId13"/>
    <p:sldLayoutId id="2147483686" r:id="rId14"/>
    <p:sldLayoutId id="2147483702" r:id="rId15"/>
    <p:sldLayoutId id="2147483701" r:id="rId16"/>
    <p:sldLayoutId id="2147483697" r:id="rId17"/>
    <p:sldLayoutId id="2147483912" r:id="rId18"/>
    <p:sldLayoutId id="2147483913" r:id="rId19"/>
    <p:sldLayoutId id="2147483700" r:id="rId20"/>
    <p:sldLayoutId id="2147483684" r:id="rId21"/>
    <p:sldLayoutId id="2147483698" r:id="rId22"/>
    <p:sldLayoutId id="2147483699" r:id="rId23"/>
    <p:sldLayoutId id="2147483902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6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923" r:id="rId18"/>
    <p:sldLayoutId id="2147483914" r:id="rId19"/>
    <p:sldLayoutId id="2147483788" r:id="rId20"/>
    <p:sldLayoutId id="2147483789" r:id="rId21"/>
    <p:sldLayoutId id="2147483790" r:id="rId22"/>
    <p:sldLayoutId id="2147483791" r:id="rId23"/>
    <p:sldLayoutId id="2147483903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4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924" r:id="rId18"/>
    <p:sldLayoutId id="2147483915" r:id="rId19"/>
    <p:sldLayoutId id="2147483810" r:id="rId20"/>
    <p:sldLayoutId id="2147483811" r:id="rId21"/>
    <p:sldLayoutId id="2147483812" r:id="rId22"/>
    <p:sldLayoutId id="2147483813" r:id="rId23"/>
    <p:sldLayoutId id="2147483904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925" r:id="rId18"/>
    <p:sldLayoutId id="2147483916" r:id="rId19"/>
    <p:sldLayoutId id="2147483832" r:id="rId20"/>
    <p:sldLayoutId id="2147483833" r:id="rId21"/>
    <p:sldLayoutId id="2147483834" r:id="rId22"/>
    <p:sldLayoutId id="2147483835" r:id="rId23"/>
    <p:sldLayoutId id="2147483905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9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  <p:sldLayoutId id="2147483853" r:id="rId17"/>
    <p:sldLayoutId id="2147483926" r:id="rId18"/>
    <p:sldLayoutId id="2147483917" r:id="rId19"/>
    <p:sldLayoutId id="2147483854" r:id="rId20"/>
    <p:sldLayoutId id="2147483855" r:id="rId21"/>
    <p:sldLayoutId id="2147483856" r:id="rId22"/>
    <p:sldLayoutId id="2147483857" r:id="rId23"/>
    <p:sldLayoutId id="2147483906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927" r:id="rId18"/>
    <p:sldLayoutId id="2147483918" r:id="rId19"/>
    <p:sldLayoutId id="2147483766" r:id="rId20"/>
    <p:sldLayoutId id="2147483767" r:id="rId21"/>
    <p:sldLayoutId id="2147483768" r:id="rId22"/>
    <p:sldLayoutId id="2147483769" r:id="rId23"/>
    <p:sldLayoutId id="2147483907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928" r:id="rId18"/>
    <p:sldLayoutId id="2147483919" r:id="rId19"/>
    <p:sldLayoutId id="2147483744" r:id="rId20"/>
    <p:sldLayoutId id="2147483745" r:id="rId21"/>
    <p:sldLayoutId id="2147483746" r:id="rId22"/>
    <p:sldLayoutId id="2147483747" r:id="rId23"/>
    <p:sldLayoutId id="2147483908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3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929" r:id="rId18"/>
    <p:sldLayoutId id="2147483920" r:id="rId19"/>
    <p:sldLayoutId id="2147483722" r:id="rId20"/>
    <p:sldLayoutId id="2147483723" r:id="rId21"/>
    <p:sldLayoutId id="2147483724" r:id="rId22"/>
    <p:sldLayoutId id="2147483725" r:id="rId23"/>
    <p:sldLayoutId id="2147483909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8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930" r:id="rId18"/>
    <p:sldLayoutId id="2147483921" r:id="rId19"/>
    <p:sldLayoutId id="2147483876" r:id="rId20"/>
    <p:sldLayoutId id="2147483877" r:id="rId21"/>
    <p:sldLayoutId id="2147483878" r:id="rId22"/>
    <p:sldLayoutId id="2147483879" r:id="rId23"/>
    <p:sldLayoutId id="2147483910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8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  <p:sldLayoutId id="2147483931" r:id="rId18"/>
    <p:sldLayoutId id="2147483922" r:id="rId19"/>
    <p:sldLayoutId id="2147483898" r:id="rId20"/>
    <p:sldLayoutId id="2147483899" r:id="rId21"/>
    <p:sldLayoutId id="2147483900" r:id="rId22"/>
    <p:sldLayoutId id="2147483901" r:id="rId23"/>
    <p:sldLayoutId id="2147483911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8B14B-0877-80C0-5A6E-934D986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EA35F-5555-7CBD-8DB6-6B84BC75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7A79F-44FB-ACBF-E0A9-137DB1A3A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7E70-AC91-F34C-A311-9C0B9DFFA0FF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0A2D5-4682-595E-8B24-80CAAA1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Short presentation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A2F5-4614-1FC2-FAE0-547E7A55B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0BF85-9FC8-714D-B749-5DD52FAEA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4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  <p:sldLayoutId id="2147483946" r:id="rId14"/>
    <p:sldLayoutId id="2147483947" r:id="rId15"/>
    <p:sldLayoutId id="2147483948" r:id="rId16"/>
    <p:sldLayoutId id="2147483949" r:id="rId17"/>
    <p:sldLayoutId id="2147483950" r:id="rId18"/>
    <p:sldLayoutId id="2147483951" r:id="rId19"/>
    <p:sldLayoutId id="2147483952" r:id="rId20"/>
    <p:sldLayoutId id="2147483953" r:id="rId21"/>
    <p:sldLayoutId id="2147483954" r:id="rId22"/>
    <p:sldLayoutId id="2147483955" r:id="rId23"/>
    <p:sldLayoutId id="2147483956" r:id="rId2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chemeClr val="tx1"/>
          </a:solidFill>
          <a:latin typeface="BentonSans Book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BentonSans Book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inicaltrials.gov/data-api/api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atalog.data.gov/dataset/trec-2022-clinical-trials-datase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onctc.2018.08.00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trec.nist.gov/" TargetMode="External"/><Relationship Id="rId4" Type="http://schemas.openxmlformats.org/officeDocument/2006/relationships/hyperlink" Target="https://clinicaltrials.gov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7DA49-AF8F-6E37-8B01-76033B970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140" y="2498316"/>
            <a:ext cx="6663397" cy="2854269"/>
          </a:xfrm>
        </p:spPr>
        <p:txBody>
          <a:bodyPr>
            <a:normAutofit/>
          </a:bodyPr>
          <a:lstStyle/>
          <a:p>
            <a:r>
              <a:rPr lang="en-US" dirty="0" err="1"/>
              <a:t>Llm</a:t>
            </a:r>
            <a:r>
              <a:rPr lang="en-US" dirty="0"/>
              <a:t>-assisted clinical trial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595B8-2645-852B-1906-D1E3DE612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141" y="5137661"/>
            <a:ext cx="6663396" cy="101019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MS Business analytics </a:t>
            </a:r>
          </a:p>
          <a:p>
            <a:r>
              <a:rPr lang="en-US" dirty="0"/>
              <a:t>Spring 2026</a:t>
            </a:r>
          </a:p>
          <a:p>
            <a:r>
              <a:rPr lang="en-US" dirty="0"/>
              <a:t>Milestone 1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828A6-F71A-3450-1E76-B053A916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SP26: Deep Learning &amp; GenAI for Business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A456A8-F627-F05B-BDD9-0FDC247CB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B33BB-420E-1644-BF4F-3B078E8D4CAD}" type="datetime4">
              <a:rPr lang="en-US" smtClean="0"/>
              <a:t>March 12, 2026</a:t>
            </a:fld>
            <a:endParaRPr lang="en-US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C0A2C39-FF9E-1FD0-A33F-0F517187C3E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45" r="45"/>
          <a:stretch/>
        </p:blipFill>
        <p:spPr>
          <a:xfrm>
            <a:off x="8176478" y="24782"/>
            <a:ext cx="4567882" cy="6858000"/>
          </a:xfrm>
        </p:spPr>
      </p:pic>
    </p:spTree>
    <p:extLst>
      <p:ext uri="{BB962C8B-B14F-4D97-AF65-F5344CB8AC3E}">
        <p14:creationId xmlns:p14="http://schemas.microsoft.com/office/powerpoint/2010/main" val="159523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A417-398C-0398-F917-85E4174E5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451673"/>
            <a:ext cx="6352737" cy="733659"/>
          </a:xfrm>
        </p:spPr>
        <p:txBody>
          <a:bodyPr anchor="b">
            <a:no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574AA-8984-676E-B8C9-645639F5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Milestone 1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6CD5F28-C842-C266-54BA-19A422FE814A}"/>
              </a:ext>
            </a:extLst>
          </p:cNvPr>
          <p:cNvSpPr txBox="1">
            <a:spLocks/>
          </p:cNvSpPr>
          <p:nvPr/>
        </p:nvSpPr>
        <p:spPr>
          <a:xfrm>
            <a:off x="884238" y="2792310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CB1B4-30BC-B60E-8F73-F08B4D17933D}"/>
              </a:ext>
            </a:extLst>
          </p:cNvPr>
          <p:cNvSpPr txBox="1"/>
          <p:nvPr/>
        </p:nvSpPr>
        <p:spPr>
          <a:xfrm>
            <a:off x="1628423" y="2829372"/>
            <a:ext cx="3649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Introduction &amp; Application Environment </a:t>
            </a:r>
            <a:endParaRPr lang="en-US" sz="1600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CB5E6E7D-69B0-1991-CD1A-3C771AAE2AC4}"/>
              </a:ext>
            </a:extLst>
          </p:cNvPr>
          <p:cNvSpPr txBox="1">
            <a:spLocks/>
          </p:cNvSpPr>
          <p:nvPr/>
        </p:nvSpPr>
        <p:spPr>
          <a:xfrm>
            <a:off x="884238" y="3433482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960DDD-DD8D-7FBD-A04F-664904FAFFBD}"/>
              </a:ext>
            </a:extLst>
          </p:cNvPr>
          <p:cNvSpPr txBox="1"/>
          <p:nvPr/>
        </p:nvSpPr>
        <p:spPr>
          <a:xfrm>
            <a:off x="1628423" y="3470544"/>
            <a:ext cx="36491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Why Now: Problem Motivation and AI Context </a:t>
            </a:r>
            <a:endParaRPr lang="en-US" sz="1600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546F37B-26CF-6FF5-9659-A6964AEAC24F}"/>
              </a:ext>
            </a:extLst>
          </p:cNvPr>
          <p:cNvSpPr txBox="1">
            <a:spLocks/>
          </p:cNvSpPr>
          <p:nvPr/>
        </p:nvSpPr>
        <p:spPr>
          <a:xfrm>
            <a:off x="884238" y="4172905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CFCE11-AB66-0DE1-67AB-27749363A705}"/>
              </a:ext>
            </a:extLst>
          </p:cNvPr>
          <p:cNvSpPr txBox="1"/>
          <p:nvPr/>
        </p:nvSpPr>
        <p:spPr>
          <a:xfrm>
            <a:off x="1628423" y="4209967"/>
            <a:ext cx="3649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Task Definition &amp; Success Criteria</a:t>
            </a:r>
            <a:endParaRPr lang="en-US" sz="1600" dirty="0"/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61F68BD6-7315-720C-E2CC-FE3DD2F8F916}"/>
              </a:ext>
            </a:extLst>
          </p:cNvPr>
          <p:cNvSpPr txBox="1">
            <a:spLocks/>
          </p:cNvSpPr>
          <p:nvPr/>
        </p:nvSpPr>
        <p:spPr>
          <a:xfrm>
            <a:off x="884238" y="4850239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01515-3699-AD3D-0053-1797A91720A5}"/>
              </a:ext>
            </a:extLst>
          </p:cNvPr>
          <p:cNvSpPr txBox="1"/>
          <p:nvPr/>
        </p:nvSpPr>
        <p:spPr>
          <a:xfrm>
            <a:off x="1628423" y="4887301"/>
            <a:ext cx="3649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Scope &amp; Assumptions</a:t>
            </a:r>
            <a:endParaRPr lang="en-US" sz="1600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7D16851E-2AFB-A677-43B1-608C703E73EF}"/>
              </a:ext>
            </a:extLst>
          </p:cNvPr>
          <p:cNvSpPr txBox="1">
            <a:spLocks/>
          </p:cNvSpPr>
          <p:nvPr/>
        </p:nvSpPr>
        <p:spPr>
          <a:xfrm>
            <a:off x="884238" y="5595306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E2DED2-D601-4CC4-6AEE-0B1D0257AAFD}"/>
              </a:ext>
            </a:extLst>
          </p:cNvPr>
          <p:cNvSpPr txBox="1"/>
          <p:nvPr/>
        </p:nvSpPr>
        <p:spPr>
          <a:xfrm>
            <a:off x="1628423" y="5632368"/>
            <a:ext cx="3649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Related Work</a:t>
            </a:r>
            <a:endParaRPr lang="en-US" sz="1600" dirty="0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12B0F89A-665A-CE85-FFC9-2B618EFB48FF}"/>
              </a:ext>
            </a:extLst>
          </p:cNvPr>
          <p:cNvSpPr txBox="1">
            <a:spLocks/>
          </p:cNvSpPr>
          <p:nvPr/>
        </p:nvSpPr>
        <p:spPr>
          <a:xfrm>
            <a:off x="6110994" y="2792310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AAB26B-F606-DB22-F622-2C8152FAE508}"/>
              </a:ext>
            </a:extLst>
          </p:cNvPr>
          <p:cNvSpPr txBox="1"/>
          <p:nvPr/>
        </p:nvSpPr>
        <p:spPr>
          <a:xfrm>
            <a:off x="6855179" y="2829372"/>
            <a:ext cx="3649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Gap &amp; Proposed Contribution</a:t>
            </a:r>
            <a:endParaRPr lang="en-US" sz="1600" dirty="0"/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D8F0DDF0-3EFF-7F3B-5073-2BC00815C002}"/>
              </a:ext>
            </a:extLst>
          </p:cNvPr>
          <p:cNvSpPr txBox="1">
            <a:spLocks/>
          </p:cNvSpPr>
          <p:nvPr/>
        </p:nvSpPr>
        <p:spPr>
          <a:xfrm>
            <a:off x="6110994" y="3433482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08E23B-14E1-DDFC-E392-25614B0AB7AB}"/>
              </a:ext>
            </a:extLst>
          </p:cNvPr>
          <p:cNvSpPr txBox="1"/>
          <p:nvPr/>
        </p:nvSpPr>
        <p:spPr>
          <a:xfrm>
            <a:off x="6855179" y="3470544"/>
            <a:ext cx="3649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Proposed High Level Workflow</a:t>
            </a:r>
            <a:endParaRPr lang="en-US" sz="1600" dirty="0"/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714FC58B-8C47-56F8-153A-3C59A6BC2A70}"/>
              </a:ext>
            </a:extLst>
          </p:cNvPr>
          <p:cNvSpPr txBox="1">
            <a:spLocks/>
          </p:cNvSpPr>
          <p:nvPr/>
        </p:nvSpPr>
        <p:spPr>
          <a:xfrm>
            <a:off x="6110994" y="4172905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0A9985-26F3-6DFF-EF0C-6993EF281E42}"/>
              </a:ext>
            </a:extLst>
          </p:cNvPr>
          <p:cNvSpPr txBox="1"/>
          <p:nvPr/>
        </p:nvSpPr>
        <p:spPr>
          <a:xfrm>
            <a:off x="6855179" y="4209967"/>
            <a:ext cx="36491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Data Feasibility Snapshot: Candidate Resources</a:t>
            </a:r>
            <a:endParaRPr lang="en-US" sz="1600" dirty="0"/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88E8FE6A-3FAD-9FCE-6BE6-E87E3BC8EFF3}"/>
              </a:ext>
            </a:extLst>
          </p:cNvPr>
          <p:cNvSpPr txBox="1">
            <a:spLocks/>
          </p:cNvSpPr>
          <p:nvPr/>
        </p:nvSpPr>
        <p:spPr>
          <a:xfrm>
            <a:off x="6110994" y="4850239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09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475DA0-472E-0401-2D02-3FDF4C30C573}"/>
              </a:ext>
            </a:extLst>
          </p:cNvPr>
          <p:cNvSpPr txBox="1"/>
          <p:nvPr/>
        </p:nvSpPr>
        <p:spPr>
          <a:xfrm>
            <a:off x="6855179" y="4887301"/>
            <a:ext cx="36491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Data Feasibility Snapshot: Metadata &amp; Example</a:t>
            </a:r>
          </a:p>
        </p:txBody>
      </p:sp>
      <p:sp>
        <p:nvSpPr>
          <p:cNvPr id="30" name="Content Placeholder 4">
            <a:extLst>
              <a:ext uri="{FF2B5EF4-FFF2-40B4-BE49-F238E27FC236}">
                <a16:creationId xmlns:a16="http://schemas.microsoft.com/office/drawing/2014/main" id="{114892C8-CF71-12E4-31A9-B1FCF6E7FB12}"/>
              </a:ext>
            </a:extLst>
          </p:cNvPr>
          <p:cNvSpPr txBox="1">
            <a:spLocks/>
          </p:cNvSpPr>
          <p:nvPr/>
        </p:nvSpPr>
        <p:spPr>
          <a:xfrm>
            <a:off x="6110994" y="5595306"/>
            <a:ext cx="651051" cy="52182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1"/>
                </a:solidFill>
                <a:latin typeface="Azeret Mono" pitchFamily="2" charset="77"/>
                <a:cs typeface="Azeret Mono" pitchFamily="2" charset="77"/>
              </a:rPr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97E64D-6266-A08F-ED54-C806599B4D07}"/>
              </a:ext>
            </a:extLst>
          </p:cNvPr>
          <p:cNvSpPr txBox="1"/>
          <p:nvPr/>
        </p:nvSpPr>
        <p:spPr>
          <a:xfrm>
            <a:off x="6855179" y="5632368"/>
            <a:ext cx="3649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n-lt"/>
                <a:cs typeface="Azeret Mono" pitchFamily="2" charset="77"/>
              </a:rPr>
              <a:t>Plan for Milestone 2 &amp; 3</a:t>
            </a:r>
            <a:endParaRPr lang="en-US" sz="16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7217F-C7FF-A93E-0159-BA974712F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32466" y="2610783"/>
            <a:ext cx="0" cy="350427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8423B7-5A0D-DB05-5BC6-7CB07F58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759222" y="2610783"/>
            <a:ext cx="0" cy="350427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11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24609C8-1644-B592-7D2A-3ACCD076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Application Environment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E4386B7D-272D-9937-4C69-5D4DD392CEB8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rPr lang="en-US" dirty="0"/>
              <a:t>Domain: </a:t>
            </a:r>
            <a:r>
              <a:rPr lang="en-US" b="0" dirty="0"/>
              <a:t>Healthcare analytics and clinical research recruitment.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5AD6A5-AAE5-4C2E-17D7-F92A12B583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D35AD-38A7-06E4-DC29-345BD60F3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693980"/>
            <a:ext cx="10515600" cy="369078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Industry Context: </a:t>
            </a:r>
            <a:r>
              <a:rPr lang="en-US" sz="1600" dirty="0"/>
              <a:t>Clinical trials rely on recruiting eligible patients, but the process remains largely manual and inefficient.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Nearly 80% of clinical trials experience delays due to recruitment challenges. (Fogel, 2018).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Trial discovery systems primarily rely on keyword search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Target Users: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Patients seeking experimental treatments.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Physicians identifying trials for patients.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Research coordinators recruiting participants.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Jobs to Be Done: </a:t>
            </a:r>
            <a:r>
              <a:rPr lang="en-US" sz="1600" dirty="0"/>
              <a:t>Automatically identify and rank clinical trials a patient is eligible for based on clinical attributes.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Output Usage: </a:t>
            </a:r>
            <a:r>
              <a:rPr lang="en-US" sz="1600" dirty="0"/>
              <a:t>Decision support tool for patient-trial matching.</a:t>
            </a:r>
            <a:endParaRPr lang="en-US" sz="16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FB4AD-C59B-6050-6DAB-22814265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</p:spTree>
    <p:extLst>
      <p:ext uri="{BB962C8B-B14F-4D97-AF65-F5344CB8AC3E}">
        <p14:creationId xmlns:p14="http://schemas.microsoft.com/office/powerpoint/2010/main" val="307486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53E53-6CD0-9925-D59B-C52E50FE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21CC76-B6CD-AE7E-A9C4-D32875D1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Now: Problem Motivation &amp; AI Context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7D1805C-D684-ED73-3AFB-6B1A2E141A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6F75D-6D74-08F3-00B0-A2D08BA3F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5502"/>
            <a:ext cx="10515600" cy="369078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Clinical Trial Recruitment Problem: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80% of clinical trials fail to meet enrollment timelines, delaying new treatments and increasing development costs (Fogel,2018).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Recruitment inefficiency significantly slows medical progress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Existing systems rely heavily on keyword search, missing semantic relationships between patient characteristics and trial criteria. (Miotto et al., 2019)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Why AI is Relevant Now: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The growing availability of large structured trial registries (e.g. ClinicalTrials.gov) and advances in LLM-based reasoning make automated eligibility matching feasible now.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Value Creation: </a:t>
            </a:r>
            <a:r>
              <a:rPr lang="en-US" sz="1600" dirty="0"/>
              <a:t>By improving patient-trial matching we could accelerate recruitment timelines, increase trial completion rates, and improve patient access to experimental therapies.</a:t>
            </a:r>
            <a:endParaRPr lang="en-US" sz="16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5114F-6AB4-960C-ED63-B5179E12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</p:spTree>
    <p:extLst>
      <p:ext uri="{BB962C8B-B14F-4D97-AF65-F5344CB8AC3E}">
        <p14:creationId xmlns:p14="http://schemas.microsoft.com/office/powerpoint/2010/main" val="335750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FA72-3340-F375-7055-5D93C034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46A6118-B3A9-5F9A-FCF3-B9BA1BE1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Definition &amp; Success Criteria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2202A24-1B60-AECE-CF2F-4BFB284F27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E094D-72F2-AFCD-D2FB-B5794569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813696"/>
            <a:ext cx="5038726" cy="381262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User: </a:t>
            </a:r>
            <a:r>
              <a:rPr lang="en-US" sz="1600" dirty="0"/>
              <a:t>Patients or physicians searching for clinical trials based on patient characteristics.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Input: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Patient age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Diagnosis or condition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Relevant medical attributes (lab values, prior treatments)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Comorbidities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Output: </a:t>
            </a:r>
            <a:r>
              <a:rPr lang="en-US" sz="1600" dirty="0"/>
              <a:t>A ranked list of potentially eligible clinical trials with eligibility explanation and confidence score. </a:t>
            </a:r>
            <a:endParaRPr lang="en-US" sz="1600" b="1" dirty="0"/>
          </a:p>
          <a:p>
            <a:pPr marL="0" indent="0">
              <a:lnSpc>
                <a:spcPct val="110000"/>
              </a:lnSpc>
              <a:buNone/>
            </a:pPr>
            <a:endParaRPr lang="en-US" sz="1600" b="1" dirty="0"/>
          </a:p>
          <a:p>
            <a:pPr>
              <a:lnSpc>
                <a:spcPct val="110000"/>
              </a:lnSpc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endParaRPr lang="en-US" sz="16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219C5-F138-DB56-10F8-8D7EE199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BCEC1-4F6A-60E4-9860-7C8316BB8A43}"/>
              </a:ext>
            </a:extLst>
          </p:cNvPr>
          <p:cNvSpPr txBox="1"/>
          <p:nvPr/>
        </p:nvSpPr>
        <p:spPr>
          <a:xfrm>
            <a:off x="838199" y="2109256"/>
            <a:ext cx="8822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Task Definition: </a:t>
            </a:r>
            <a:r>
              <a:rPr lang="en-US" sz="1600" dirty="0"/>
              <a:t>Given a patient’s clinical profile, retrieve and rank clinical trials for which the patient is eligible.</a:t>
            </a:r>
          </a:p>
          <a:p>
            <a:endParaRPr lang="en-US" sz="16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EAB7CF8-CCA6-47E9-0202-D55BE52B404F}"/>
              </a:ext>
            </a:extLst>
          </p:cNvPr>
          <p:cNvSpPr txBox="1">
            <a:spLocks/>
          </p:cNvSpPr>
          <p:nvPr/>
        </p:nvSpPr>
        <p:spPr>
          <a:xfrm>
            <a:off x="6315078" y="2813696"/>
            <a:ext cx="4965586" cy="42433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Constraints: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Only publicly available trial descriptions will be used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The system cannot provide medical advice or diagnosis.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Acceptance Criteria (what the system should do):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Retrieve relevant trials within the top-5 results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Provide clear eligibility explanations</a:t>
            </a:r>
          </a:p>
          <a:p>
            <a:r>
              <a:rPr lang="en-US" sz="1600" dirty="0"/>
              <a:t>Demonstrate improved top-5 retrieval accuracy compared with keyword search via </a:t>
            </a:r>
            <a:r>
              <a:rPr lang="en-US" sz="1600" dirty="0" err="1"/>
              <a:t>ClinicalTrials.gov</a:t>
            </a:r>
            <a:r>
              <a:rPr lang="en-US" sz="1600" dirty="0"/>
              <a:t>, validated against TREC ground truth.</a:t>
            </a:r>
          </a:p>
          <a:p>
            <a:pPr marL="0" indent="0">
              <a:buNone/>
            </a:pPr>
            <a:r>
              <a:rPr lang="en-US" sz="1600" b="1" dirty="0"/>
              <a:t>Unit of Analysis: </a:t>
            </a:r>
            <a:r>
              <a:rPr lang="en-US" sz="1600" dirty="0"/>
              <a:t>Patient-trial pair (one eligibility assessment per candidate trial per patient)</a:t>
            </a:r>
            <a:endParaRPr lang="en-US" sz="1600" b="1" dirty="0"/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6353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557C-3060-E1BE-B8CF-AB32E8ECF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B9DCD9D-7D21-654E-4213-AC17CA46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Assumptions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6C604F-0C97-8B43-82FB-847AA70CF4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0B194-7D94-532D-3106-A3268E698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5502"/>
            <a:ext cx="3574774" cy="369078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In Scope: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Trial retrieval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Eligibility reasoning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Trial ranking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Out of Scope: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Clinical diagnosis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Treatment recommendations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Trial enrollment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E81E4-5238-8BCE-14BC-6BCA89030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C003888-E0FE-D0E2-78A1-9526C2C67B2C}"/>
              </a:ext>
            </a:extLst>
          </p:cNvPr>
          <p:cNvSpPr txBox="1">
            <a:spLocks/>
          </p:cNvSpPr>
          <p:nvPr/>
        </p:nvSpPr>
        <p:spPr>
          <a:xfrm>
            <a:off x="4883760" y="2073014"/>
            <a:ext cx="5000373" cy="3380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BentonSans Book" panose="02000503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600" b="1" dirty="0"/>
              <a:t>Key Assumptions: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Patient attributes are self-reported or structured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Eligibility criteria exist in textual form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User is only seeking active trials</a:t>
            </a:r>
          </a:p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600" b="1" dirty="0"/>
              <a:t>Must Have: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Trial ranking system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Nice to Have: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Explainable reasoning for eligibility </a:t>
            </a:r>
          </a:p>
        </p:txBody>
      </p:sp>
    </p:spTree>
    <p:extLst>
      <p:ext uri="{BB962C8B-B14F-4D97-AF65-F5344CB8AC3E}">
        <p14:creationId xmlns:p14="http://schemas.microsoft.com/office/powerpoint/2010/main" val="113255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9251D-F054-B9C7-8C45-D0336F14B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988B3F7-5E5C-D94C-6B14-C84836F2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BDEA605-7114-2592-87BD-4682A7C79BF4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rPr lang="en-US" dirty="0"/>
              <a:t>Existing work related to LLM-assisted clinical trial matching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8786973-2629-983C-6A2D-B1B94C4664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D7266-CB6A-7629-345F-5C7B16AC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1A929C0-E2F0-4835-8E94-CA9DB886A6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88657223"/>
              </p:ext>
            </p:extLst>
          </p:nvPr>
        </p:nvGraphicFramePr>
        <p:xfrm>
          <a:off x="1500751" y="2889793"/>
          <a:ext cx="9190494" cy="2742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036">
                  <a:extLst>
                    <a:ext uri="{9D8B030D-6E8A-4147-A177-3AD203B41FA5}">
                      <a16:colId xmlns:a16="http://schemas.microsoft.com/office/drawing/2014/main" val="1561523765"/>
                    </a:ext>
                  </a:extLst>
                </a:gridCol>
                <a:gridCol w="3556315">
                  <a:extLst>
                    <a:ext uri="{9D8B030D-6E8A-4147-A177-3AD203B41FA5}">
                      <a16:colId xmlns:a16="http://schemas.microsoft.com/office/drawing/2014/main" val="2739277590"/>
                    </a:ext>
                  </a:extLst>
                </a:gridCol>
                <a:gridCol w="3270143">
                  <a:extLst>
                    <a:ext uri="{9D8B030D-6E8A-4147-A177-3AD203B41FA5}">
                      <a16:colId xmlns:a16="http://schemas.microsoft.com/office/drawing/2014/main" val="2429911244"/>
                    </a:ext>
                  </a:extLst>
                </a:gridCol>
              </a:tblGrid>
              <a:tr h="524725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583060"/>
                  </a:ext>
                </a:extLst>
              </a:tr>
              <a:tr h="905689">
                <a:tc>
                  <a:txBody>
                    <a:bodyPr/>
                    <a:lstStyle/>
                    <a:p>
                      <a:r>
                        <a:rPr lang="en-US" dirty="0" err="1"/>
                        <a:t>ClinicalTrials.gov</a:t>
                      </a:r>
                      <a:r>
                        <a:rPr lang="en-US" dirty="0"/>
                        <a:t>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Keyword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 matching of eligibility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242622"/>
                  </a:ext>
                </a:extLst>
              </a:tr>
              <a:tr h="671693">
                <a:tc>
                  <a:txBody>
                    <a:bodyPr/>
                    <a:lstStyle/>
                    <a:p>
                      <a:r>
                        <a:rPr lang="en-US" dirty="0" err="1"/>
                        <a:t>DeepEnroll</a:t>
                      </a:r>
                      <a:r>
                        <a:rPr lang="en-US" dirty="0"/>
                        <a:t> (Miotto et al., 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 classification for patient-trial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structured EHR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189841"/>
                  </a:ext>
                </a:extLst>
              </a:tr>
              <a:tr h="524725">
                <a:tc>
                  <a:txBody>
                    <a:bodyPr/>
                    <a:lstStyle/>
                    <a:p>
                      <a:r>
                        <a:rPr lang="en-US" dirty="0" err="1"/>
                        <a:t>TrialGPT</a:t>
                      </a:r>
                      <a:r>
                        <a:rPr lang="en-US" dirty="0"/>
                        <a:t> (Zhang et al.,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LLM-based eligibility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public implementations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28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278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0B938-3FB7-4598-2A72-9ECF7DC26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1401DA7-4131-4F1C-9D85-3B4955AC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&amp; Proposed Contribution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15F3CD-A3F7-28C3-75F5-B570153459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77900-B036-FDB0-8FAB-DCB83E400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5502"/>
            <a:ext cx="10515600" cy="46424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Research Gap:</a:t>
            </a:r>
            <a:r>
              <a:rPr lang="en-US" sz="1600" dirty="0"/>
              <a:t> Current clinical trial search systems rely on keyword matching rather than semantic reasoning over eligibility criteria — missing complex logical relationships between patient attributes and trial rules.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Proposed Contribution:</a:t>
            </a:r>
            <a:r>
              <a:rPr lang="en-US" sz="1600" dirty="0"/>
              <a:t> </a:t>
            </a:r>
            <a:r>
              <a:rPr lang="en-US" sz="1600" dirty="0" err="1"/>
              <a:t>TrialMatch</a:t>
            </a:r>
            <a:r>
              <a:rPr lang="en-US" sz="1600" dirty="0"/>
              <a:t> AI addresses this by parsing plain-language patient profiles, retrieving candidate trials, and evaluating eligibility criteria using LLM reasoning.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Baseline:</a:t>
            </a:r>
            <a:r>
              <a:rPr lang="en-US" sz="1600" dirty="0"/>
              <a:t> </a:t>
            </a:r>
            <a:r>
              <a:rPr lang="en-US" sz="1600" dirty="0" err="1"/>
              <a:t>ClinicalTrials.gov</a:t>
            </a:r>
            <a:r>
              <a:rPr lang="en-US" sz="1600" dirty="0"/>
              <a:t> keyword search requires patients to manually match their own terminology to trial descriptions, producing incomplete and unranked results.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Proposed:</a:t>
            </a:r>
            <a:r>
              <a:rPr lang="en-US" sz="1600" dirty="0"/>
              <a:t> </a:t>
            </a:r>
            <a:r>
              <a:rPr lang="en-US" sz="1600" dirty="0" err="1"/>
              <a:t>TrialMatch</a:t>
            </a:r>
            <a:r>
              <a:rPr lang="en-US" sz="1600" dirty="0"/>
              <a:t> AI accepts a plain-language patient profile, semantically reasons over eligibility criteria using an LLM, and returns a ranked, explained shortlist of matching trials.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2621-5A05-AF2F-AEB3-E4FF4C0B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</p:spTree>
    <p:extLst>
      <p:ext uri="{BB962C8B-B14F-4D97-AF65-F5344CB8AC3E}">
        <p14:creationId xmlns:p14="http://schemas.microsoft.com/office/powerpoint/2010/main" val="964656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D1E4-A60E-C271-A3CC-2BCDF536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9AEF1DA-6E29-47C8-A695-84964CC2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High-Level Workflow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658DD16-B33D-1D49-89C6-222CB2725F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F9CF7-52F2-AF99-8D7E-DE8B8892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7AB63-3D2B-0AA9-7774-67B5CB520773}"/>
              </a:ext>
            </a:extLst>
          </p:cNvPr>
          <p:cNvSpPr/>
          <p:nvPr/>
        </p:nvSpPr>
        <p:spPr>
          <a:xfrm>
            <a:off x="983660" y="2283710"/>
            <a:ext cx="1995055" cy="4441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Patient Profile Input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7CD69F-3202-6006-D446-74D08010EFAE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981188" y="2727858"/>
            <a:ext cx="12" cy="375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9C9104F-3084-4D06-7E09-1142DF60F34F}"/>
              </a:ext>
            </a:extLst>
          </p:cNvPr>
          <p:cNvSpPr/>
          <p:nvPr/>
        </p:nvSpPr>
        <p:spPr>
          <a:xfrm>
            <a:off x="983672" y="3102996"/>
            <a:ext cx="1995055" cy="4200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Entity Extraction / LLM Parsing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19D876-A6F6-435F-A89D-EA65631A4C93}"/>
              </a:ext>
            </a:extLst>
          </p:cNvPr>
          <p:cNvSpPr/>
          <p:nvPr/>
        </p:nvSpPr>
        <p:spPr>
          <a:xfrm>
            <a:off x="983668" y="3966372"/>
            <a:ext cx="1995055" cy="4433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Clinical Trial Retrieval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09C688-1CBF-04DD-3654-3A32C769B475}"/>
              </a:ext>
            </a:extLst>
          </p:cNvPr>
          <p:cNvCxnSpPr>
            <a:cxnSpLocks/>
          </p:cNvCxnSpPr>
          <p:nvPr/>
        </p:nvCxnSpPr>
        <p:spPr>
          <a:xfrm>
            <a:off x="1988479" y="3523026"/>
            <a:ext cx="0" cy="443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FD96C4D-CA1C-C1C5-697C-196110E9021A}"/>
              </a:ext>
            </a:extLst>
          </p:cNvPr>
          <p:cNvSpPr/>
          <p:nvPr/>
        </p:nvSpPr>
        <p:spPr>
          <a:xfrm>
            <a:off x="983661" y="4871525"/>
            <a:ext cx="1995055" cy="4433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Eligibility Criteria Parsing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FFD507-826A-0160-FB51-642A94819B14}"/>
              </a:ext>
            </a:extLst>
          </p:cNvPr>
          <p:cNvCxnSpPr>
            <a:cxnSpLocks/>
          </p:cNvCxnSpPr>
          <p:nvPr/>
        </p:nvCxnSpPr>
        <p:spPr>
          <a:xfrm>
            <a:off x="1981187" y="4428179"/>
            <a:ext cx="0" cy="443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2E6AE67-4309-3FAF-3B3E-BC13AB15A4C8}"/>
              </a:ext>
            </a:extLst>
          </p:cNvPr>
          <p:cNvSpPr/>
          <p:nvPr/>
        </p:nvSpPr>
        <p:spPr>
          <a:xfrm>
            <a:off x="983661" y="5776678"/>
            <a:ext cx="2092043" cy="4433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Patient-Trial Matching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F46BE6-1E7C-978B-FD2D-4B7AB6D00D07}"/>
              </a:ext>
            </a:extLst>
          </p:cNvPr>
          <p:cNvCxnSpPr>
            <a:cxnSpLocks/>
          </p:cNvCxnSpPr>
          <p:nvPr/>
        </p:nvCxnSpPr>
        <p:spPr>
          <a:xfrm>
            <a:off x="1988479" y="5333332"/>
            <a:ext cx="0" cy="443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96CE7C-212E-3596-16E0-4C81B82098FF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075704" y="5998351"/>
            <a:ext cx="5818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F68EDC2-0FAC-D21E-54F6-065F6BE82E05}"/>
              </a:ext>
            </a:extLst>
          </p:cNvPr>
          <p:cNvSpPr/>
          <p:nvPr/>
        </p:nvSpPr>
        <p:spPr>
          <a:xfrm>
            <a:off x="3646343" y="5757550"/>
            <a:ext cx="2242566" cy="4433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Trial Ranking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DD6B35-8796-4E40-2F73-18CC5967AECA}"/>
              </a:ext>
            </a:extLst>
          </p:cNvPr>
          <p:cNvCxnSpPr>
            <a:cxnSpLocks/>
          </p:cNvCxnSpPr>
          <p:nvPr/>
        </p:nvCxnSpPr>
        <p:spPr>
          <a:xfrm flipV="1">
            <a:off x="4780722" y="5314204"/>
            <a:ext cx="0" cy="443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07F84A7-2F55-D67A-B9CB-9DCC5B52E1A9}"/>
              </a:ext>
            </a:extLst>
          </p:cNvPr>
          <p:cNvSpPr/>
          <p:nvPr/>
        </p:nvSpPr>
        <p:spPr>
          <a:xfrm>
            <a:off x="3646342" y="4889986"/>
            <a:ext cx="2242567" cy="4433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Explanation Generation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F068322-D5B3-007B-40AF-63AA91275BFA}"/>
              </a:ext>
            </a:extLst>
          </p:cNvPr>
          <p:cNvCxnSpPr>
            <a:cxnSpLocks/>
          </p:cNvCxnSpPr>
          <p:nvPr/>
        </p:nvCxnSpPr>
        <p:spPr>
          <a:xfrm flipV="1">
            <a:off x="4755642" y="4404443"/>
            <a:ext cx="0" cy="443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120C7A0-9D1F-017E-8BDD-01D391FD0068}"/>
              </a:ext>
            </a:extLst>
          </p:cNvPr>
          <p:cNvSpPr/>
          <p:nvPr/>
        </p:nvSpPr>
        <p:spPr>
          <a:xfrm>
            <a:off x="3634359" y="3966372"/>
            <a:ext cx="2242566" cy="4433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1B3E50"/>
                </a:solidFill>
                <a:effectLst/>
                <a:latin typeface="BentonSans Book" panose="02000503000000020004"/>
              </a:rPr>
              <a:t>Output: Ranked Trial List + Rationale</a:t>
            </a:r>
            <a:endParaRPr lang="en-US" sz="1600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64F40FC-61E8-6CE6-ED7A-7FFC157AB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792392"/>
              </p:ext>
            </p:extLst>
          </p:nvPr>
        </p:nvGraphicFramePr>
        <p:xfrm>
          <a:off x="6575769" y="2181203"/>
          <a:ext cx="5444805" cy="4317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813">
                  <a:extLst>
                    <a:ext uri="{9D8B030D-6E8A-4147-A177-3AD203B41FA5}">
                      <a16:colId xmlns:a16="http://schemas.microsoft.com/office/drawing/2014/main" val="2391966047"/>
                    </a:ext>
                  </a:extLst>
                </a:gridCol>
                <a:gridCol w="1879057">
                  <a:extLst>
                    <a:ext uri="{9D8B030D-6E8A-4147-A177-3AD203B41FA5}">
                      <a16:colId xmlns:a16="http://schemas.microsoft.com/office/drawing/2014/main" val="3120911234"/>
                    </a:ext>
                  </a:extLst>
                </a:gridCol>
                <a:gridCol w="1814935">
                  <a:extLst>
                    <a:ext uri="{9D8B030D-6E8A-4147-A177-3AD203B41FA5}">
                      <a16:colId xmlns:a16="http://schemas.microsoft.com/office/drawing/2014/main" val="2408440623"/>
                    </a:ext>
                  </a:extLst>
                </a:gridCol>
              </a:tblGrid>
              <a:tr h="421172">
                <a:tc>
                  <a:txBody>
                    <a:bodyPr/>
                    <a:lstStyle/>
                    <a:p>
                      <a:r>
                        <a:rPr lang="en-US" sz="160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421380"/>
                  </a:ext>
                </a:extLst>
              </a:tr>
              <a:tr h="550566">
                <a:tc>
                  <a:txBody>
                    <a:bodyPr/>
                    <a:lstStyle/>
                    <a:p>
                      <a:r>
                        <a:rPr lang="en-US" sz="1600" dirty="0"/>
                        <a:t>1. Patient Profile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Free-form text or form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Raw patient record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10533"/>
                  </a:ext>
                </a:extLst>
              </a:tr>
              <a:tr h="550566">
                <a:tc>
                  <a:txBody>
                    <a:bodyPr/>
                    <a:lstStyle/>
                    <a:p>
                      <a:r>
                        <a:rPr lang="en-US" sz="1600" dirty="0"/>
                        <a:t>2. Entity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Raw patient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Structured feature vector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559973"/>
                  </a:ext>
                </a:extLst>
              </a:tr>
              <a:tr h="421172">
                <a:tc>
                  <a:txBody>
                    <a:bodyPr/>
                    <a:lstStyle/>
                    <a:p>
                      <a:r>
                        <a:rPr lang="en-US" sz="1600" dirty="0"/>
                        <a:t>3. Trial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Feature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Candidate trial set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344601"/>
                  </a:ext>
                </a:extLst>
              </a:tr>
              <a:tr h="550566">
                <a:tc>
                  <a:txBody>
                    <a:bodyPr/>
                    <a:lstStyle/>
                    <a:p>
                      <a:r>
                        <a:rPr lang="en-US" sz="1600" dirty="0"/>
                        <a:t>4. Criteria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Candidate trial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Structured constraints per trial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72345"/>
                  </a:ext>
                </a:extLst>
              </a:tr>
              <a:tr h="550566">
                <a:tc>
                  <a:txBody>
                    <a:bodyPr/>
                    <a:lstStyle/>
                    <a:p>
                      <a:r>
                        <a:rPr lang="en-US" sz="1600" dirty="0"/>
                        <a:t>5. Eligibility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Feature vector +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Eligibility score per trial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920147"/>
                  </a:ext>
                </a:extLst>
              </a:tr>
              <a:tr h="421172">
                <a:tc>
                  <a:txBody>
                    <a:bodyPr/>
                    <a:lstStyle/>
                    <a:p>
                      <a:r>
                        <a:rPr lang="en-US" sz="1600" dirty="0"/>
                        <a:t>6. Trial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Eligibility scores + proximity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Top-K ranked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40531"/>
                  </a:ext>
                </a:extLst>
              </a:tr>
              <a:tr h="550566">
                <a:tc>
                  <a:txBody>
                    <a:bodyPr/>
                    <a:lstStyle/>
                    <a:p>
                      <a:r>
                        <a:rPr lang="en-US" sz="1600" dirty="0"/>
                        <a:t>7. Explanation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Tok-K trials +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Plain-language rationale </a:t>
                      </a:r>
                      <a:r>
                        <a:rPr lang="en-US" sz="1600" dirty="0">
                          <a:sym typeface="Wingdings" pitchFamily="2" charset="2"/>
                        </a:rPr>
                        <a:t> user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209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8F2833-3610-E4A8-0E74-C6D640AB86C9}"/>
              </a:ext>
            </a:extLst>
          </p:cNvPr>
          <p:cNvSpPr txBox="1"/>
          <p:nvPr/>
        </p:nvSpPr>
        <p:spPr>
          <a:xfrm>
            <a:off x="983660" y="6492222"/>
            <a:ext cx="6060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★ Step 5: ambiguous matches → human review</a:t>
            </a:r>
          </a:p>
        </p:txBody>
      </p:sp>
    </p:spTree>
    <p:extLst>
      <p:ext uri="{BB962C8B-B14F-4D97-AF65-F5344CB8AC3E}">
        <p14:creationId xmlns:p14="http://schemas.microsoft.com/office/powerpoint/2010/main" val="70631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DE13-DFB2-75D0-ED0B-E8748415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D196F26-DB00-7A97-668B-5A253EAB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Feasibility Snapshot: Candidate Sources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DD0223-C4F8-81E8-198A-96139487AB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44D973-0F27-BDD4-B4C1-128A6C718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977122"/>
            <a:ext cx="5157787" cy="541743"/>
          </a:xfrm>
        </p:spPr>
        <p:txBody>
          <a:bodyPr>
            <a:normAutofit/>
          </a:bodyPr>
          <a:lstStyle/>
          <a:p>
            <a:r>
              <a:rPr lang="en-US" dirty="0"/>
              <a:t>Source 1: </a:t>
            </a:r>
            <a:r>
              <a:rPr lang="en-US" dirty="0">
                <a:hlinkClick r:id="rId3"/>
              </a:rPr>
              <a:t>ClinicalTrials.gov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11E28-9067-4281-6EB2-23046C07D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18865"/>
            <a:ext cx="5157787" cy="3670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Description: </a:t>
            </a:r>
            <a:r>
              <a:rPr lang="en-US" sz="1600" dirty="0"/>
              <a:t>Public registry containing detailed metadata on global clinical trials.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Contains:</a:t>
            </a:r>
          </a:p>
          <a:p>
            <a:r>
              <a:rPr lang="en-US" sz="1600" dirty="0"/>
              <a:t>Trial descriptions</a:t>
            </a:r>
          </a:p>
          <a:p>
            <a:r>
              <a:rPr lang="en-US" sz="1600" dirty="0"/>
              <a:t>Eligibility criteria</a:t>
            </a:r>
          </a:p>
          <a:p>
            <a:r>
              <a:rPr lang="en-US" sz="1600" dirty="0"/>
              <a:t>Disease conditions</a:t>
            </a:r>
          </a:p>
          <a:p>
            <a:r>
              <a:rPr lang="en-US" sz="1600" dirty="0"/>
              <a:t>Locations</a:t>
            </a:r>
          </a:p>
          <a:p>
            <a:pPr marL="0" indent="0">
              <a:buNone/>
            </a:pPr>
            <a:r>
              <a:rPr lang="en-US" sz="1600" b="1" dirty="0"/>
              <a:t>Why it Fits:</a:t>
            </a:r>
          </a:p>
          <a:p>
            <a:r>
              <a:rPr lang="en-US" sz="1600" dirty="0"/>
              <a:t>Publicly accessible</a:t>
            </a:r>
          </a:p>
          <a:p>
            <a:r>
              <a:rPr lang="en-US" sz="1600" dirty="0"/>
              <a:t>Structured metadata fields </a:t>
            </a:r>
          </a:p>
          <a:p>
            <a:r>
              <a:rPr lang="en-US" sz="1600" dirty="0"/>
              <a:t>Large dataset (&gt;400k trials)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407282C-7E03-86B1-6308-757644605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Source 2: </a:t>
            </a:r>
            <a:r>
              <a:rPr lang="en-US" dirty="0">
                <a:hlinkClick r:id="rId4"/>
              </a:rPr>
              <a:t>TREC Clinical Trials Dataset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443F0-07DF-37D7-9211-131CBBBD6CD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Description: </a:t>
            </a:r>
            <a:r>
              <a:rPr lang="en-US" dirty="0"/>
              <a:t>Benchmark dataset for evaluating patient-trial matching algorithms.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Provides ground truth mappings between patient descriptions and relevant trials.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65E29-D7B8-7C10-4AEA-BFC40195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</p:spTree>
    <p:extLst>
      <p:ext uri="{BB962C8B-B14F-4D97-AF65-F5344CB8AC3E}">
        <p14:creationId xmlns:p14="http://schemas.microsoft.com/office/powerpoint/2010/main" val="3714508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92C07-399C-CB65-C396-65E0D503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8E1A0C6-8583-291D-4E88-FFBA234E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Feasibility Snapshot: Metadata &amp; Example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0F5FB8D-4B1C-71B2-066B-C26F30D4CA42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rPr lang="en-US" dirty="0"/>
              <a:t>Example Metadata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8609A4-673D-D22C-6C94-5125C0BA68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BF167-17C0-6AEA-A749-177CFA0C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69900A-239B-6490-6403-79607CA96DE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58687069"/>
              </p:ext>
            </p:extLst>
          </p:nvPr>
        </p:nvGraphicFramePr>
        <p:xfrm>
          <a:off x="918209" y="2654792"/>
          <a:ext cx="6493973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682">
                  <a:extLst>
                    <a:ext uri="{9D8B030D-6E8A-4147-A177-3AD203B41FA5}">
                      <a16:colId xmlns:a16="http://schemas.microsoft.com/office/drawing/2014/main" val="1781528254"/>
                    </a:ext>
                  </a:extLst>
                </a:gridCol>
                <a:gridCol w="759756">
                  <a:extLst>
                    <a:ext uri="{9D8B030D-6E8A-4147-A177-3AD203B41FA5}">
                      <a16:colId xmlns:a16="http://schemas.microsoft.com/office/drawing/2014/main" val="1105818405"/>
                    </a:ext>
                  </a:extLst>
                </a:gridCol>
                <a:gridCol w="2061838">
                  <a:extLst>
                    <a:ext uri="{9D8B030D-6E8A-4147-A177-3AD203B41FA5}">
                      <a16:colId xmlns:a16="http://schemas.microsoft.com/office/drawing/2014/main" val="383920763"/>
                    </a:ext>
                  </a:extLst>
                </a:gridCol>
                <a:gridCol w="1722697">
                  <a:extLst>
                    <a:ext uri="{9D8B030D-6E8A-4147-A177-3AD203B41FA5}">
                      <a16:colId xmlns:a16="http://schemas.microsoft.com/office/drawing/2014/main" val="3894577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86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Trial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NCT04280705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645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Disease studied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2 Diabetes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97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Eligibility_Criteria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Inclusion/exclusion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 &gt; 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67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Eligible 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1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MinAge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138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MaxAge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99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Trial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Tampa, FL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400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EA561F-CF26-1B99-E7F4-83798924D08F}"/>
              </a:ext>
            </a:extLst>
          </p:cNvPr>
          <p:cNvSpPr txBox="1"/>
          <p:nvPr/>
        </p:nvSpPr>
        <p:spPr>
          <a:xfrm>
            <a:off x="7772400" y="2772048"/>
            <a:ext cx="40805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Data Snippet:</a:t>
            </a:r>
          </a:p>
          <a:p>
            <a:endParaRPr lang="en-US" b="1" dirty="0"/>
          </a:p>
          <a:p>
            <a:r>
              <a:rPr lang="en-US" dirty="0"/>
              <a:t>{</a:t>
            </a:r>
          </a:p>
          <a:p>
            <a:r>
              <a:rPr lang="en-US" dirty="0"/>
              <a:t>"NCT_ID": "NCT04280705",</a:t>
            </a:r>
          </a:p>
          <a:p>
            <a:r>
              <a:rPr lang="en-US" dirty="0"/>
              <a:t>"Condition": "Type 2 Diabetes",</a:t>
            </a:r>
          </a:p>
          <a:p>
            <a:r>
              <a:rPr lang="en-US" dirty="0"/>
              <a:t>"</a:t>
            </a:r>
            <a:r>
              <a:rPr lang="en-US" dirty="0" err="1"/>
              <a:t>MinimumAge</a:t>
            </a:r>
            <a:r>
              <a:rPr lang="en-US" dirty="0"/>
              <a:t>": 18,</a:t>
            </a:r>
          </a:p>
          <a:p>
            <a:r>
              <a:rPr lang="en-US" dirty="0"/>
              <a:t>"</a:t>
            </a:r>
            <a:r>
              <a:rPr lang="en-US" dirty="0" err="1"/>
              <a:t>MaximumAge</a:t>
            </a:r>
            <a:r>
              <a:rPr lang="en-US" dirty="0"/>
              <a:t>": 65,</a:t>
            </a:r>
          </a:p>
          <a:p>
            <a:r>
              <a:rPr lang="en-US" dirty="0"/>
              <a:t>"</a:t>
            </a:r>
            <a:r>
              <a:rPr lang="en-US" dirty="0" err="1"/>
              <a:t>EligibilityCriteria</a:t>
            </a:r>
            <a:r>
              <a:rPr lang="en-US" dirty="0"/>
              <a:t>": "Patients must have HbA1c &gt;7%"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379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B4BA-B22A-96B2-A095-ADB484AB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5B8A90E-1FF2-E049-9233-15D8D047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Milestone 2 and 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395B6C-B3D5-8148-929B-9D425E55C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10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3A87BB-520F-4C3E-A1C0-7D637E0E1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2044563"/>
            <a:ext cx="3790807" cy="733885"/>
          </a:xfrm>
        </p:spPr>
        <p:txBody>
          <a:bodyPr>
            <a:noAutofit/>
          </a:bodyPr>
          <a:lstStyle/>
          <a:p>
            <a:r>
              <a:rPr lang="en-US" sz="1600" dirty="0"/>
              <a:t>Milestone 2 – Data Inventory &amp; Workflow</a:t>
            </a:r>
          </a:p>
          <a:p>
            <a:r>
              <a:rPr lang="en-US" sz="1600" dirty="0"/>
              <a:t>(due April 5, Week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E7542-8A51-A180-6402-C760E9CED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1" y="2938879"/>
            <a:ext cx="5157787" cy="2515013"/>
          </a:xfrm>
        </p:spPr>
        <p:txBody>
          <a:bodyPr>
            <a:normAutofit/>
          </a:bodyPr>
          <a:lstStyle/>
          <a:p>
            <a:r>
              <a:rPr lang="en-US" sz="1600" dirty="0"/>
              <a:t>Week 3-4 (Mar 16 -22): Obtain ClinicalTrials.gov dataset via API calls</a:t>
            </a:r>
          </a:p>
          <a:p>
            <a:r>
              <a:rPr lang="en-US" sz="1600" dirty="0"/>
              <a:t>Week 4 (Mar 23 -29): Construct metadata inventory</a:t>
            </a:r>
          </a:p>
          <a:p>
            <a:r>
              <a:rPr lang="en-US" sz="1600" dirty="0"/>
              <a:t>Week 5 (Mar 30- Apr 1): Build preprocessing pipeline</a:t>
            </a:r>
          </a:p>
          <a:p>
            <a:r>
              <a:rPr lang="en-US" sz="1600" dirty="0"/>
              <a:t>Week 6 (Apr 2-5): Prototype retrieval system</a:t>
            </a:r>
          </a:p>
          <a:p>
            <a:r>
              <a:rPr lang="en-US" sz="1600" dirty="0"/>
              <a:t>Week 6 (Apr 2-5): Finalize workflow and submit M2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0240E6A-0A39-9FA7-D83E-99C42AE8D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12528" y="2140633"/>
            <a:ext cx="5183188" cy="637815"/>
          </a:xfrm>
        </p:spPr>
        <p:txBody>
          <a:bodyPr>
            <a:noAutofit/>
          </a:bodyPr>
          <a:lstStyle/>
          <a:p>
            <a:r>
              <a:rPr lang="en-US" sz="1600" dirty="0"/>
              <a:t>Milestone 3 – Model Development</a:t>
            </a:r>
          </a:p>
          <a:p>
            <a:r>
              <a:rPr lang="en-US" sz="1600" dirty="0"/>
              <a:t>(due May 3, Week 10)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DE38B-3FA3-72D1-04EC-0D47C7073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12528" y="2851785"/>
            <a:ext cx="5183188" cy="212639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Week 6-7 (Apr 5 -12): Implement LLM eligibility reasoning module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Week 7-8 (Apr 13-19): Develop trial ranking model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Week 8-9 (Apr 20-26): Evaluate retrieval and ranking metrics; baseline comparison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Week 9-10 (Apr 27 – May 3): Design system architecture for deployment and submit M3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F8876-F13F-813E-F77F-A4E0FA03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0343D-7C67-BD9A-23D3-E6883D9854BF}"/>
              </a:ext>
            </a:extLst>
          </p:cNvPr>
          <p:cNvSpPr txBox="1"/>
          <p:nvPr/>
        </p:nvSpPr>
        <p:spPr>
          <a:xfrm>
            <a:off x="838200" y="5269230"/>
            <a:ext cx="908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Risks and mitigation strategy</a:t>
            </a:r>
          </a:p>
          <a:p>
            <a:r>
              <a:rPr lang="en-US" dirty="0"/>
              <a:t>Ambiguous eligibility criteria </a:t>
            </a:r>
            <a:r>
              <a:rPr lang="en-US" dirty="0">
                <a:sym typeface="Wingdings" pitchFamily="2" charset="2"/>
              </a:rPr>
              <a:t> mitigate with LLM parsing</a:t>
            </a:r>
          </a:p>
          <a:p>
            <a:r>
              <a:rPr lang="en-US" dirty="0">
                <a:sym typeface="Wingdings" pitchFamily="2" charset="2"/>
              </a:rPr>
              <a:t>Incomplete patient information  incorporate structured extraction</a:t>
            </a:r>
          </a:p>
          <a:p>
            <a:r>
              <a:rPr lang="en-US" dirty="0">
                <a:sym typeface="Wingdings" pitchFamily="2" charset="2"/>
              </a:rPr>
              <a:t>Data variability  standardize fields during preprocessing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32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E7614DC-D45C-FFE3-9EDC-543DD3AD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01C763-9F43-84BF-54D8-7A4B3CAE13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1AB6D-7B83-C549-53FC-84BF76C75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15502"/>
            <a:ext cx="8911589" cy="38560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Fogel, D. B. (2018). Factors associated with clinical trials that fail and opportunities for improving the likelihood of success. </a:t>
            </a:r>
            <a:r>
              <a:rPr lang="en-US" i="1" dirty="0"/>
              <a:t>Contemporary Clinical Trials Communications, 11</a:t>
            </a:r>
            <a:r>
              <a:rPr lang="en-US" dirty="0"/>
              <a:t>, 156–164. </a:t>
            </a:r>
            <a:r>
              <a:rPr lang="en-US" dirty="0">
                <a:hlinkClick r:id="rId3"/>
              </a:rPr>
              <a:t>https://doi.org/10.1016/j.conctc.2018.08.001</a:t>
            </a:r>
            <a:endParaRPr lang="en-US" dirty="0"/>
          </a:p>
          <a:p>
            <a:r>
              <a:rPr lang="en-US" dirty="0"/>
              <a:t>Miotto, R., Li, L., Kidd, B. A., &amp; Dudley, J. T. (2019). </a:t>
            </a:r>
            <a:r>
              <a:rPr lang="en-US" dirty="0" err="1"/>
              <a:t>DeepEnroll</a:t>
            </a:r>
            <a:r>
              <a:rPr lang="en-US" dirty="0"/>
              <a:t>: Patient-trial matching with deep learning. </a:t>
            </a:r>
            <a:r>
              <a:rPr lang="en-US" i="1" dirty="0"/>
              <a:t>Journal of the American Medical Informatics Association, 26</a:t>
            </a:r>
            <a:r>
              <a:rPr lang="en-US" dirty="0"/>
              <a:t>(8–9), 869–879. https://</a:t>
            </a:r>
            <a:r>
              <a:rPr lang="en-US" dirty="0" err="1"/>
              <a:t>doi.org</a:t>
            </a:r>
            <a:r>
              <a:rPr lang="en-US" dirty="0"/>
              <a:t>/10.1093/</a:t>
            </a:r>
            <a:r>
              <a:rPr lang="en-US" dirty="0" err="1"/>
              <a:t>jamia</a:t>
            </a:r>
            <a:r>
              <a:rPr lang="en-US" dirty="0"/>
              <a:t>/ocz061</a:t>
            </a:r>
          </a:p>
          <a:p>
            <a:r>
              <a:rPr lang="en-US" dirty="0"/>
              <a:t>National Library of Medicine. (2024). </a:t>
            </a:r>
            <a:r>
              <a:rPr lang="en-US" i="1" dirty="0" err="1"/>
              <a:t>ClinicalTrials.gov</a:t>
            </a:r>
            <a:r>
              <a:rPr lang="en-US" dirty="0"/>
              <a:t>. </a:t>
            </a:r>
            <a:r>
              <a:rPr lang="en-US" dirty="0">
                <a:hlinkClick r:id="rId4"/>
              </a:rPr>
              <a:t>https://clinicaltrials.gov</a:t>
            </a:r>
            <a:endParaRPr lang="en-US" dirty="0"/>
          </a:p>
          <a:p>
            <a:r>
              <a:rPr lang="en-US" dirty="0"/>
              <a:t>Roberts, K., </a:t>
            </a:r>
            <a:r>
              <a:rPr lang="en-US" dirty="0" err="1"/>
              <a:t>Demner</a:t>
            </a:r>
            <a:r>
              <a:rPr lang="en-US" dirty="0"/>
              <a:t>-Fushman, D., Tonning, J., &amp; Voorhees, E. M. (2022). Overview of the TREC 2022 clinical trials track. </a:t>
            </a:r>
            <a:r>
              <a:rPr lang="en-US" i="1" dirty="0"/>
              <a:t>Proceedings of the Text Retrieval Conference (TREC)</a:t>
            </a:r>
            <a:r>
              <a:rPr lang="en-US" dirty="0"/>
              <a:t>. </a:t>
            </a:r>
            <a:r>
              <a:rPr lang="en-US" dirty="0">
                <a:hlinkClick r:id="rId5"/>
              </a:rPr>
              <a:t>https://trec.nist.gov</a:t>
            </a:r>
            <a:endParaRPr lang="en-US" dirty="0"/>
          </a:p>
          <a:p>
            <a:r>
              <a:rPr lang="en-US" dirty="0"/>
              <a:t>Zhang, Y., Chen, Q., Yang, Z., Li, X., &amp; Liu, Y. (2023). </a:t>
            </a:r>
            <a:r>
              <a:rPr lang="en-US" i="1" dirty="0" err="1"/>
              <a:t>TrialGPT</a:t>
            </a:r>
            <a:r>
              <a:rPr lang="en-US" i="1" dirty="0"/>
              <a:t>: Matching patients to clinical trials using large language models</a:t>
            </a:r>
            <a:r>
              <a:rPr lang="en-US" dirty="0"/>
              <a:t> (arXiv:2307.09987). https://</a:t>
            </a:r>
            <a:r>
              <a:rPr lang="en-US" dirty="0" err="1"/>
              <a:t>arxiv.org</a:t>
            </a:r>
            <a:r>
              <a:rPr lang="en-US" dirty="0"/>
              <a:t>/abs/2307.09987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C9895-254D-6358-16C0-081FD914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19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5EF6-FEA9-15C5-455C-FD6F500C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F728DC6-4310-2D14-1C8E-73D92DF6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Use Disclosure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7507675-28A8-B62F-7623-18686E6F5D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Slide 12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7CFFC-C392-6BFB-413F-F64D386E1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5502"/>
            <a:ext cx="10515600" cy="46424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Generative AI tools </a:t>
            </a:r>
            <a:r>
              <a:rPr lang="en-US" b="1" dirty="0"/>
              <a:t>ChatGPT </a:t>
            </a:r>
            <a:r>
              <a:rPr lang="en-US" dirty="0"/>
              <a:t>(GPT 5.4)</a:t>
            </a:r>
            <a:r>
              <a:rPr lang="en-US" b="1" dirty="0"/>
              <a:t> and Claude </a:t>
            </a:r>
            <a:r>
              <a:rPr lang="en-US" dirty="0"/>
              <a:t>(Sonnet 4.6) were used to assist with drafting, wording improvements, and feedback during preparation of this presentation. AI-generated suggestions were reviewed and edited before inclusion in the final slides.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51CB1-4785-5E2D-2B3C-AA98FA846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Milestone 1</a:t>
            </a:r>
          </a:p>
        </p:txBody>
      </p:sp>
    </p:spTree>
    <p:extLst>
      <p:ext uri="{BB962C8B-B14F-4D97-AF65-F5344CB8AC3E}">
        <p14:creationId xmlns:p14="http://schemas.microsoft.com/office/powerpoint/2010/main" val="427917149"/>
      </p:ext>
    </p:extLst>
  </p:cSld>
  <p:clrMapOvr>
    <a:masterClrMapping/>
  </p:clrMapOvr>
</p:sld>
</file>

<file path=ppt/theme/theme1.xml><?xml version="1.0" encoding="utf-8"?>
<a:theme xmlns:a="http://schemas.openxmlformats.org/drawingml/2006/main" name="Indiana University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793B5BD2-C3C3-704E-9693-6360B95CD4FA}"/>
    </a:ext>
  </a:extLst>
</a:theme>
</file>

<file path=ppt/theme/theme2.xml><?xml version="1.0" encoding="utf-8"?>
<a:theme xmlns:a="http://schemas.openxmlformats.org/drawingml/2006/main" name="IU Bloomington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23AA0F21-04F8-D146-8E44-93F1E544BE55}"/>
    </a:ext>
  </a:extLst>
</a:theme>
</file>

<file path=ppt/theme/theme3.xml><?xml version="1.0" encoding="utf-8"?>
<a:theme xmlns:a="http://schemas.openxmlformats.org/drawingml/2006/main" name="IU Indianapolis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A5C30BB9-68E4-E24D-8F6B-F1FE1316C9B9}"/>
    </a:ext>
  </a:extLst>
</a:theme>
</file>

<file path=ppt/theme/theme4.xml><?xml version="1.0" encoding="utf-8"?>
<a:theme xmlns:a="http://schemas.openxmlformats.org/drawingml/2006/main" name="IU Columbus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F49B25D7-803F-434A-8079-572271E869D7}"/>
    </a:ext>
  </a:extLst>
</a:theme>
</file>

<file path=ppt/theme/theme5.xml><?xml version="1.0" encoding="utf-8"?>
<a:theme xmlns:a="http://schemas.openxmlformats.org/drawingml/2006/main" name="IU East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B478409D-68AE-0648-86B3-D67C62B5EB84}"/>
    </a:ext>
  </a:extLst>
</a:theme>
</file>

<file path=ppt/theme/theme6.xml><?xml version="1.0" encoding="utf-8"?>
<a:theme xmlns:a="http://schemas.openxmlformats.org/drawingml/2006/main" name="IU Fort Wayne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F44E58C2-C5E3-C949-B4CD-51EE46787C95}"/>
    </a:ext>
  </a:extLst>
</a:theme>
</file>

<file path=ppt/theme/theme7.xml><?xml version="1.0" encoding="utf-8"?>
<a:theme xmlns:a="http://schemas.openxmlformats.org/drawingml/2006/main" name="IU Kokomo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375688D5-E0B5-B04A-884B-7907E9DE53FF}"/>
    </a:ext>
  </a:extLst>
</a:theme>
</file>

<file path=ppt/theme/theme8.xml><?xml version="1.0" encoding="utf-8"?>
<a:theme xmlns:a="http://schemas.openxmlformats.org/drawingml/2006/main" name="IU Northwest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72DB60C4-BA81-914B-BE19-027E90217B89}"/>
    </a:ext>
  </a:extLst>
</a:theme>
</file>

<file path=ppt/theme/theme9.xml><?xml version="1.0" encoding="utf-8"?>
<a:theme xmlns:a="http://schemas.openxmlformats.org/drawingml/2006/main" name="IU Southeast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64959C35-F102-444C-A969-2D5EC264F15D}"/>
    </a:ext>
  </a:extLst>
</a:theme>
</file>

<file path=ppt/theme/theme10.xml><?xml version="1.0" encoding="utf-8"?>
<a:theme xmlns:a="http://schemas.openxmlformats.org/drawingml/2006/main" name="IU South Bend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01E17AC9-EBD3-0E49-AA53-4B86D4DDEB1A}"/>
    </a:ext>
  </a:extLst>
</a:theme>
</file>

<file path=ppt/theme/theme11.xml><?xml version="1.0" encoding="utf-8"?>
<a:theme xmlns:a="http://schemas.openxmlformats.org/drawingml/2006/main" name="IU Online">
  <a:themeElements>
    <a:clrScheme name="IU Brand Colors">
      <a:dk1>
        <a:srgbClr val="1B3E50"/>
      </a:dk1>
      <a:lt1>
        <a:srgbClr val="FFFFFF"/>
      </a:lt1>
      <a:dk2>
        <a:srgbClr val="990000"/>
      </a:dk2>
      <a:lt2>
        <a:srgbClr val="EEEEF0"/>
      </a:lt2>
      <a:accent1>
        <a:srgbClr val="6D0808"/>
      </a:accent1>
      <a:accent2>
        <a:srgbClr val="F31C40"/>
      </a:accent2>
      <a:accent3>
        <a:srgbClr val="F5E3CC"/>
      </a:accent3>
      <a:accent4>
        <a:srgbClr val="F8EFE2"/>
      </a:accent4>
      <a:accent5>
        <a:srgbClr val="C9D2D6"/>
      </a:accent5>
      <a:accent6>
        <a:srgbClr val="072332"/>
      </a:accent6>
      <a:hlink>
        <a:srgbClr val="004F9E"/>
      </a:hlink>
      <a:folHlink>
        <a:srgbClr val="004080"/>
      </a:folHlink>
    </a:clrScheme>
    <a:fontScheme name="IU Brand Fonts">
      <a:majorFont>
        <a:latin typeface="BentonSans Bold"/>
        <a:ea typeface=""/>
        <a:cs typeface=""/>
      </a:majorFont>
      <a:minorFont>
        <a:latin typeface="BentonSans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 Brand Presentation Template_FINAL SOURCE" id="{0A1A4063-E85F-6A49-A383-314F252BA6FC}" vid="{01E17AC9-EBD3-0E49-AA53-4B86D4DDEB1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244348-EA17-A444-AC9F-3782F36D2E6D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2C42661753C4498FBF3C1A4FFA860" ma:contentTypeVersion="19" ma:contentTypeDescription="Create a new document." ma:contentTypeScope="" ma:versionID="ce7ee232a14ab9233a696f958193629b">
  <xsd:schema xmlns:xsd="http://www.w3.org/2001/XMLSchema" xmlns:xs="http://www.w3.org/2001/XMLSchema" xmlns:p="http://schemas.microsoft.com/office/2006/metadata/properties" xmlns:ns2="93b78f33-85ec-497a-ab38-4b7ab928235a" xmlns:ns3="f1f4434b-45c9-47a5-b1b9-2a3e506b6279" targetNamespace="http://schemas.microsoft.com/office/2006/metadata/properties" ma:root="true" ma:fieldsID="21977731bfb782fcb26af1df6e0716f4" ns2:_="" ns3:_="">
    <xsd:import namespace="93b78f33-85ec-497a-ab38-4b7ab928235a"/>
    <xsd:import namespace="f1f4434b-45c9-47a5-b1b9-2a3e506b6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image" minOccurs="0"/>
                <xsd:element ref="ns2:MediaServiceSearchProperties" minOccurs="0"/>
                <xsd:element ref="ns2:kwizcomcontrollerfield" minOccurs="0"/>
                <xsd:element ref="ns2:Siz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b78f33-85ec-497a-ab38-4b7ab9282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ec0a79-46cb-4568-9b1b-2d720bd320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image" ma:index="22" nillable="true" ma:displayName="image" ma:internalName="imag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kwizcomcontrollerfield" ma:index="24" nillable="true" ma:displayName="kwizcomcontrollerfield" ma:internalName="kwizcomcontrollerfield">
      <xsd:simpleType>
        <xsd:restriction base="dms:Text"/>
      </xsd:simpleType>
    </xsd:element>
    <xsd:element name="Size" ma:index="25" nillable="true" ma:displayName="Size" ma:internalName="Size">
      <xsd:simpleType>
        <xsd:restriction base="dms:Text">
          <xsd:maxLength value="255"/>
        </xsd:restriction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f4434b-45c9-47a5-b1b9-2a3e506b6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3ba0bfc-4133-4b9b-b84a-208f2228ffb6}" ma:internalName="TaxCatchAll" ma:showField="CatchAllData" ma:web="f1f4434b-45c9-47a5-b1b9-2a3e506b6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f4434b-45c9-47a5-b1b9-2a3e506b6279" xsi:nil="true"/>
    <lcf76f155ced4ddcb4097134ff3c332f xmlns="93b78f33-85ec-497a-ab38-4b7ab928235a">
      <Terms xmlns="http://schemas.microsoft.com/office/infopath/2007/PartnerControls"/>
    </lcf76f155ced4ddcb4097134ff3c332f>
    <image xmlns="93b78f33-85ec-497a-ab38-4b7ab928235a" xsi:nil="true"/>
    <Size xmlns="93b78f33-85ec-497a-ab38-4b7ab928235a" xsi:nil="true"/>
    <kwizcomcontrollerfield xmlns="93b78f33-85ec-497a-ab38-4b7ab928235a" xsi:nil="true"/>
  </documentManagement>
</p:properties>
</file>

<file path=customXml/itemProps1.xml><?xml version="1.0" encoding="utf-8"?>
<ds:datastoreItem xmlns:ds="http://schemas.openxmlformats.org/officeDocument/2006/customXml" ds:itemID="{D7749D69-8066-4411-86D7-8A0A9B95C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b78f33-85ec-497a-ab38-4b7ab928235a"/>
    <ds:schemaRef ds:uri="f1f4434b-45c9-47a5-b1b9-2a3e506b6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9B9DA8-C715-4BB4-9314-1C7B96FE2A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CC5B2B-508F-47B0-8B65-30E5077C0ABB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f1f4434b-45c9-47a5-b1b9-2a3e506b6279"/>
    <ds:schemaRef ds:uri="93b78f33-85ec-497a-ab38-4b7ab928235a"/>
    <ds:schemaRef ds:uri="42f28fab-ed99-4516-a1dd-7a464ed3e70d"/>
    <ds:schemaRef ds:uri="7b2822f4-cea5-4d75-a421-1a322f52db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Indiana University</Template>
  <TotalTime>436</TotalTime>
  <Words>1506</Words>
  <Application>Microsoft Macintosh PowerPoint</Application>
  <PresentationFormat>Widescreen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14</vt:i4>
      </vt:variant>
    </vt:vector>
  </HeadingPairs>
  <TitlesOfParts>
    <vt:vector size="34" baseType="lpstr">
      <vt:lpstr>Aptos</vt:lpstr>
      <vt:lpstr>Arial</vt:lpstr>
      <vt:lpstr>Azeret Mono</vt:lpstr>
      <vt:lpstr>Azeret Mono SemiBold</vt:lpstr>
      <vt:lpstr>BentonSans Black</vt:lpstr>
      <vt:lpstr>BentonSans Book</vt:lpstr>
      <vt:lpstr>BentonSans Regular</vt:lpstr>
      <vt:lpstr>Georgia Pro Cond SemiBold</vt:lpstr>
      <vt:lpstr>Wingdings</vt:lpstr>
      <vt:lpstr>Indiana University</vt:lpstr>
      <vt:lpstr>IU Bloomington</vt:lpstr>
      <vt:lpstr>IU Indianapolis</vt:lpstr>
      <vt:lpstr>IU Columbus</vt:lpstr>
      <vt:lpstr>IU East</vt:lpstr>
      <vt:lpstr>IU Fort Wayne</vt:lpstr>
      <vt:lpstr>IU Kokomo</vt:lpstr>
      <vt:lpstr>IU Northwest</vt:lpstr>
      <vt:lpstr>IU Southeast</vt:lpstr>
      <vt:lpstr>IU South Bend</vt:lpstr>
      <vt:lpstr>IU Online</vt:lpstr>
      <vt:lpstr>Llm-assisted clinical trial agent</vt:lpstr>
      <vt:lpstr>Agenda</vt:lpstr>
      <vt:lpstr>Introduction &amp; Application Environment</vt:lpstr>
      <vt:lpstr>Why Now: Problem Motivation &amp; AI Context</vt:lpstr>
      <vt:lpstr>Task Definition &amp; Success Criteria</vt:lpstr>
      <vt:lpstr>Scope &amp; Assumptions</vt:lpstr>
      <vt:lpstr>Related Work</vt:lpstr>
      <vt:lpstr>Gap &amp; Proposed Contribution</vt:lpstr>
      <vt:lpstr>Proposed High-Level Workflow</vt:lpstr>
      <vt:lpstr>Data Feasibility Snapshot: Candidate Sources</vt:lpstr>
      <vt:lpstr>Data Feasibility Snapshot: Metadata &amp; Example</vt:lpstr>
      <vt:lpstr>Plan for Milestone 2 and 3</vt:lpstr>
      <vt:lpstr>References</vt:lpstr>
      <vt:lpstr>AI Use Disclosure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Sutorius, Emily Catherine</dc:creator>
  <cp:keywords/>
  <dc:description/>
  <cp:lastModifiedBy>Ryan Curling</cp:lastModifiedBy>
  <cp:revision>53</cp:revision>
  <dcterms:created xsi:type="dcterms:W3CDTF">2026-01-08T21:23:53Z</dcterms:created>
  <dcterms:modified xsi:type="dcterms:W3CDTF">2026-03-12T21:30:59Z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0x0101007072C42661753C4498FBF3C1A4FFA860</vt:lpwstr>
  </property>
  <property fmtid="{D5CDD505-2E9C-101B-9397-08002B2CF9AE}" pid="3" name="MediaServiceImageTags">
    <vt:lpwstr/>
  </property>
</Properties>
</file>